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32720" cy="457200"/>
          </a:xfrm>
          <a:prstGeom prst="rect">
            <a:avLst/>
          </a:prstGeom>
          <a:noFill/>
        </p:spPr>
        <p:txBody>
          <a:bodyPr wrap="none">
            <a:spAutoFit/>
          </a:bodyPr>
          <a:lstStyle/>
          <a:p>
            <a:pPr>
              <a:defRPr sz="1200" b="1">
                <a:solidFill>
                  <a:srgbClr val="2563EB"/>
                </a:solidFill>
                <a:latin typeface="Calibri"/>
              </a:defRPr>
            </a:pPr>
            <a:r>
              <a:t>COMPILER DESIGN LABORATORY -- PROJECT PROPOSAL &amp; DESIGN REVIEW</a:t>
            </a:r>
          </a:p>
        </p:txBody>
      </p:sp>
      <p:sp>
        <p:nvSpPr>
          <p:cNvPr id="5" name="TextBox 4"/>
          <p:cNvSpPr txBox="1"/>
          <p:nvPr/>
        </p:nvSpPr>
        <p:spPr>
          <a:xfrm>
            <a:off x="914400" y="1645920"/>
            <a:ext cx="10332720" cy="1371600"/>
          </a:xfrm>
          <a:prstGeom prst="rect">
            <a:avLst/>
          </a:prstGeom>
          <a:noFill/>
        </p:spPr>
        <p:txBody>
          <a:bodyPr wrap="square">
            <a:spAutoFit/>
          </a:bodyPr>
          <a:lstStyle/>
          <a:p>
            <a:pPr>
              <a:defRPr sz="3800" b="1">
                <a:solidFill>
                  <a:srgbClr val="FFFFFF"/>
                </a:solidFill>
                <a:latin typeface="Calibri"/>
              </a:defRPr>
            </a:pPr>
            <a:r>
              <a:t>ZENITH COMPILER</a:t>
            </a:r>
          </a:p>
          <a:p>
            <a:pPr>
              <a:spcBef>
                <a:spcPts val="1000"/>
              </a:spcBef>
              <a:defRPr sz="1700">
                <a:solidFill>
                  <a:srgbClr val="CBD5E1"/>
                </a:solidFill>
                <a:latin typeface="Calibri"/>
              </a:defRPr>
            </a:pPr>
            <a:r>
              <a:t>A Strongly-Typed Procedural Language Compiler with AST Visualization,</a:t>
            </a:r>
            <a:br/>
            <a:r>
              <a:t>Scoped Symbol Table Management, and Intermediate Code Generation</a:t>
            </a:r>
          </a:p>
        </p:txBody>
      </p:sp>
      <p:sp>
        <p:nvSpPr>
          <p:cNvPr id="6" name="Rounded Rectangle 5"/>
          <p:cNvSpPr/>
          <p:nvPr/>
        </p:nvSpPr>
        <p:spPr>
          <a:xfrm>
            <a:off x="914400" y="3840480"/>
            <a:ext cx="1033272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023360"/>
            <a:ext cx="9784080" cy="1645920"/>
          </a:xfrm>
          <a:prstGeom prst="rect">
            <a:avLst/>
          </a:prstGeom>
          <a:noFill/>
        </p:spPr>
        <p:txBody>
          <a:bodyPr wrap="square">
            <a:spAutoFit/>
          </a:bodyPr>
          <a:lstStyle/>
          <a:p>
            <a:pPr>
              <a:spcAft>
                <a:spcPts val="400"/>
              </a:spcAft>
              <a:defRPr sz="1100">
                <a:solidFill>
                  <a:srgbClr val="F1F5F9"/>
                </a:solidFill>
                <a:latin typeface="Calibri"/>
              </a:defRPr>
            </a:pPr>
            <a:r>
              <a:t>-  Project Type:  Individual Project Submission (Strictly Independent Implementation)</a:t>
            </a:r>
          </a:p>
          <a:p>
            <a:pPr>
              <a:spcAft>
                <a:spcPts val="400"/>
              </a:spcAft>
              <a:defRPr sz="1100">
                <a:solidFill>
                  <a:srgbClr val="F1F5F9"/>
                </a:solidFill>
                <a:latin typeface="Calibri"/>
              </a:defRPr>
            </a:pPr>
            <a:r>
              <a:t>-  Course Component:  Compiler Design Laboratory (Review 1: Proposal &amp; System Design)</a:t>
            </a:r>
          </a:p>
          <a:p>
            <a:pPr>
              <a:spcAft>
                <a:spcPts val="400"/>
              </a:spcAft>
              <a:defRPr sz="1100">
                <a:solidFill>
                  <a:srgbClr val="F1F5F9"/>
                </a:solidFill>
                <a:latin typeface="Calibri"/>
              </a:defRPr>
            </a:pPr>
            <a:r>
              <a:t>-  Key Innovation:  Interactive Arbitrary User Input Engine, Compile-Time Immutability, AST Visualizer</a:t>
            </a:r>
          </a:p>
          <a:p>
            <a:pPr>
              <a:spcAft>
                <a:spcPts val="400"/>
              </a:spcAft>
              <a:defRPr sz="1100">
                <a:solidFill>
                  <a:srgbClr val="F1F5F9"/>
                </a:solidFill>
                <a:latin typeface="Calibri"/>
              </a:defRPr>
            </a:pPr>
            <a:r>
              <a:t>-  Deliverables:  Formal EBNF Grammar, Hand-Crafted Lexer &amp; Parser, Scoped Symbol Table, Prototype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PROBLEM UNDERSTANDING &amp; MOTIVATION</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Project Motivation &amp; Background Study</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365760"/>
          </a:xfrm>
          <a:prstGeom prst="rect">
            <a:avLst/>
          </a:prstGeom>
          <a:noFill/>
        </p:spPr>
        <p:txBody>
          <a:bodyPr wrap="square">
            <a:spAutoFit/>
          </a:bodyPr>
          <a:lstStyle/>
          <a:p>
            <a:pPr>
              <a:defRPr sz="1300" b="1">
                <a:solidFill>
                  <a:srgbClr val="1E3A8A"/>
                </a:solidFill>
                <a:latin typeface="Calibri"/>
              </a:defRPr>
            </a:pPr>
            <a:r>
              <a:t>Deficiencies in Existing Approaches</a:t>
            </a:r>
          </a:p>
        </p:txBody>
      </p:sp>
      <p:sp>
        <p:nvSpPr>
          <p:cNvPr id="8" name="TextBox 7"/>
          <p:cNvSpPr txBox="1"/>
          <p:nvPr/>
        </p:nvSpPr>
        <p:spPr>
          <a:xfrm>
            <a:off x="914400" y="2103120"/>
            <a:ext cx="4846320" cy="3931920"/>
          </a:xfrm>
          <a:prstGeom prst="rect">
            <a:avLst/>
          </a:prstGeom>
          <a:noFill/>
        </p:spPr>
        <p:txBody>
          <a:bodyPr wrap="square">
            <a:spAutoFit/>
          </a:bodyPr>
          <a:lstStyle/>
          <a:p>
            <a:pPr>
              <a:spcAft>
                <a:spcPts val="200"/>
              </a:spcAft>
              <a:defRPr sz="1100" b="1">
                <a:solidFill>
                  <a:srgbClr val="0F172A"/>
                </a:solidFill>
                <a:latin typeface="Calibri"/>
              </a:defRPr>
            </a:pPr>
            <a:r>
              <a:t>- Dynamically Typed Scripting Languages (Python, JS):</a:t>
            </a:r>
          </a:p>
          <a:p>
            <a:pPr>
              <a:spcAft>
                <a:spcPts val="1000"/>
              </a:spcAft>
              <a:defRPr sz="1000">
                <a:solidFill>
                  <a:srgbClr val="64748B"/>
                </a:solidFill>
                <a:latin typeface="Calibri"/>
              </a:defRPr>
            </a:pPr>
            <a:r>
              <a:t>   Postpone typing and scoping errors until runtime, leading to silent production failures and lack of static safety.</a:t>
            </a:r>
          </a:p>
          <a:p>
            <a:pPr>
              <a:spcAft>
                <a:spcPts val="200"/>
              </a:spcAft>
              <a:defRPr sz="1100" b="1">
                <a:solidFill>
                  <a:srgbClr val="0F172A"/>
                </a:solidFill>
                <a:latin typeface="Calibri"/>
              </a:defRPr>
            </a:pPr>
            <a:r>
              <a:t>- Industrial Black-Box Compilers (GCC, Clang/LLVM):</a:t>
            </a:r>
          </a:p>
          <a:p>
            <a:pPr>
              <a:spcAft>
                <a:spcPts val="1000"/>
              </a:spcAft>
              <a:defRPr sz="1000">
                <a:solidFill>
                  <a:srgbClr val="64748B"/>
                </a:solidFill>
                <a:latin typeface="Calibri"/>
              </a:defRPr>
            </a:pPr>
            <a:r>
              <a:t>   Feature millions of lines of code where intermediate syntax trees and representation lowering are completely opaque.</a:t>
            </a:r>
          </a:p>
          <a:p>
            <a:pPr>
              <a:spcAft>
                <a:spcPts val="200"/>
              </a:spcAft>
              <a:defRPr sz="1100" b="1">
                <a:solidFill>
                  <a:srgbClr val="0F172A"/>
                </a:solidFill>
                <a:latin typeface="Calibri"/>
              </a:defRPr>
            </a:pPr>
            <a:r>
              <a:t>- Toy Lab Interpreters &amp; Calculators:</a:t>
            </a:r>
          </a:p>
          <a:p>
            <a:pPr>
              <a:spcAft>
                <a:spcPts val="1000"/>
              </a:spcAft>
              <a:defRPr sz="1000">
                <a:solidFill>
                  <a:srgbClr val="64748B"/>
                </a:solidFill>
                <a:latin typeface="Calibri"/>
              </a:defRPr>
            </a:pPr>
            <a:r>
              <a:t>   Directly evaluate syntax trees without symbol tables, lexical scopes, intermediate representations, or code optimizations.</a:t>
            </a:r>
          </a:p>
        </p:txBody>
      </p:sp>
      <p:sp>
        <p:nvSpPr>
          <p:cNvPr id="9" name="Rounded Rectangle 8"/>
          <p:cNvSpPr/>
          <p:nvPr/>
        </p:nvSpPr>
        <p:spPr>
          <a:xfrm>
            <a:off x="62179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65760"/>
          </a:xfrm>
          <a:prstGeom prst="rect">
            <a:avLst/>
          </a:prstGeom>
          <a:noFill/>
        </p:spPr>
        <p:txBody>
          <a:bodyPr wrap="square">
            <a:spAutoFit/>
          </a:bodyPr>
          <a:lstStyle/>
          <a:p>
            <a:pPr>
              <a:defRPr sz="1300" b="1">
                <a:solidFill>
                  <a:srgbClr val="1E3A8A"/>
                </a:solidFill>
                <a:latin typeface="Calibri"/>
              </a:defRPr>
            </a:pPr>
            <a:r>
              <a:t>The Zenith Value Proposition</a:t>
            </a:r>
          </a:p>
        </p:txBody>
      </p:sp>
      <p:sp>
        <p:nvSpPr>
          <p:cNvPr id="11" name="TextBox 10"/>
          <p:cNvSpPr txBox="1"/>
          <p:nvPr/>
        </p:nvSpPr>
        <p:spPr>
          <a:xfrm>
            <a:off x="6400800" y="2103120"/>
            <a:ext cx="4846320" cy="3931920"/>
          </a:xfrm>
          <a:prstGeom prst="rect">
            <a:avLst/>
          </a:prstGeom>
          <a:noFill/>
        </p:spPr>
        <p:txBody>
          <a:bodyPr wrap="square">
            <a:spAutoFit/>
          </a:bodyPr>
          <a:lstStyle/>
          <a:p>
            <a:pPr>
              <a:spcAft>
                <a:spcPts val="200"/>
              </a:spcAft>
              <a:defRPr sz="1100" b="1">
                <a:solidFill>
                  <a:srgbClr val="1E3A8A"/>
                </a:solidFill>
                <a:latin typeface="Calibri"/>
              </a:defRPr>
            </a:pPr>
            <a:r>
              <a:t>- Full Pedagogical Transparency:</a:t>
            </a:r>
          </a:p>
          <a:p>
            <a:pPr>
              <a:spcAft>
                <a:spcPts val="1000"/>
              </a:spcAft>
              <a:defRPr sz="1000">
                <a:solidFill>
                  <a:srgbClr val="64748B"/>
                </a:solidFill>
                <a:latin typeface="Calibri"/>
              </a:defRPr>
            </a:pPr>
            <a:r>
              <a:t>   Exposes every compiler phase (Token Table, AST Tree, Scoped Symbol Table, and TAC Intermediate Code) as inspectable artifacts.</a:t>
            </a:r>
          </a:p>
          <a:p>
            <a:pPr>
              <a:spcAft>
                <a:spcPts val="200"/>
              </a:spcAft>
              <a:defRPr sz="1100" b="1">
                <a:solidFill>
                  <a:srgbClr val="1E3A8A"/>
                </a:solidFill>
                <a:latin typeface="Calibri"/>
              </a:defRPr>
            </a:pPr>
            <a:r>
              <a:t>- Strict Compile-Time Safety:</a:t>
            </a:r>
          </a:p>
          <a:p>
            <a:pPr>
              <a:spcAft>
                <a:spcPts val="1000"/>
              </a:spcAft>
              <a:defRPr sz="1000">
                <a:solidFill>
                  <a:srgbClr val="64748B"/>
                </a:solidFill>
                <a:latin typeface="Calibri"/>
              </a:defRPr>
            </a:pPr>
            <a:r>
              <a:t>   Enforces static type checking, variable immutability (let vs const), and scope resolution before code execution begins.</a:t>
            </a:r>
          </a:p>
          <a:p>
            <a:pPr>
              <a:spcAft>
                <a:spcPts val="200"/>
              </a:spcAft>
              <a:defRPr sz="1100" b="1">
                <a:solidFill>
                  <a:srgbClr val="1E3A8A"/>
                </a:solidFill>
                <a:latin typeface="Calibri"/>
              </a:defRPr>
            </a:pPr>
            <a:r>
              <a:t>- Interactive Problem Input Engine:</a:t>
            </a:r>
          </a:p>
          <a:p>
            <a:pPr>
              <a:spcAft>
                <a:spcPts val="1000"/>
              </a:spcAft>
              <a:defRPr sz="1000">
                <a:solidFill>
                  <a:srgbClr val="64748B"/>
                </a:solidFill>
                <a:latin typeface="Calibri"/>
              </a:defRPr>
            </a:pPr>
            <a:r>
              <a:t>   Accepts arbitrary user-supplied programs and algorithms dynamically at runtime, allowing any computational problem to be verified.</a:t>
            </a:r>
          </a:p>
          <a:p>
            <a:pPr>
              <a:spcAft>
                <a:spcPts val="200"/>
              </a:spcAft>
              <a:defRPr sz="1100" b="1">
                <a:solidFill>
                  <a:srgbClr val="1E3A8A"/>
                </a:solidFill>
                <a:latin typeface="Calibri"/>
              </a:defRPr>
            </a:pPr>
            <a:r>
              <a:t>- Zero Dependency Architecture:</a:t>
            </a:r>
          </a:p>
          <a:p>
            <a:pPr>
              <a:spcAft>
                <a:spcPts val="1000"/>
              </a:spcAft>
              <a:defRPr sz="1000">
                <a:solidFill>
                  <a:srgbClr val="64748B"/>
                </a:solidFill>
                <a:latin typeface="Calibri"/>
              </a:defRPr>
            </a:pPr>
            <a:r>
              <a:t>   Engineered entirely in pure standard library Python, eliminating build failures and toolchain friction.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PROBLEM FORMULATION</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Formal Problem Statement &amp; Problem Domain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728655"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10362895" cy="365760"/>
          </a:xfrm>
          <a:prstGeom prst="rect">
            <a:avLst/>
          </a:prstGeom>
          <a:noFill/>
        </p:spPr>
        <p:txBody>
          <a:bodyPr wrap="square">
            <a:spAutoFit/>
          </a:bodyPr>
          <a:lstStyle/>
          <a:p>
            <a:pPr>
              <a:defRPr sz="1300" b="1">
                <a:solidFill>
                  <a:srgbClr val="1E3A8A"/>
                </a:solidFill>
                <a:latin typeface="Calibri"/>
              </a:defRPr>
            </a:pPr>
            <a:r>
              <a:t>Formal Problem Definition</a:t>
            </a:r>
          </a:p>
        </p:txBody>
      </p:sp>
      <p:sp>
        <p:nvSpPr>
          <p:cNvPr id="8" name="TextBox 7"/>
          <p:cNvSpPr txBox="1"/>
          <p:nvPr/>
        </p:nvSpPr>
        <p:spPr>
          <a:xfrm>
            <a:off x="914400" y="2011680"/>
            <a:ext cx="10332720" cy="1188720"/>
          </a:xfrm>
          <a:prstGeom prst="rect">
            <a:avLst/>
          </a:prstGeom>
          <a:noFill/>
        </p:spPr>
        <p:txBody>
          <a:bodyPr wrap="square">
            <a:spAutoFit/>
          </a:bodyPr>
          <a:lstStyle/>
          <a:p>
            <a:pPr>
              <a:lnSpc>
                <a:spcPct val="130000"/>
              </a:lnSpc>
              <a:defRPr sz="1150">
                <a:solidFill>
                  <a:srgbClr val="1E293B"/>
                </a:solidFill>
                <a:latin typeface="Calibri"/>
              </a:defRPr>
            </a:pPr>
            <a:r>
              <a:t>To formulate, design, implement, and rigorously validate a modular multi-pass compiler for a strongly-typed procedural language named Zenith. The system transforms human-readable source programs through deterministic lexical scanning, LL(1) recursive descent parsing, Abstract Syntax Tree (AST) synthesis, and hierarchical scoped symbol table management, establishing an intermediate representation pipeline for optimization and execution.</a:t>
            </a:r>
          </a:p>
        </p:txBody>
      </p:sp>
      <p:sp>
        <p:nvSpPr>
          <p:cNvPr id="9" name="Rounded Rectangle 8"/>
          <p:cNvSpPr/>
          <p:nvPr/>
        </p:nvSpPr>
        <p:spPr>
          <a:xfrm>
            <a:off x="731520" y="3474720"/>
            <a:ext cx="3383280" cy="2834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611880"/>
            <a:ext cx="3017520" cy="365760"/>
          </a:xfrm>
          <a:prstGeom prst="rect">
            <a:avLst/>
          </a:prstGeom>
          <a:noFill/>
        </p:spPr>
        <p:txBody>
          <a:bodyPr wrap="square">
            <a:spAutoFit/>
          </a:bodyPr>
          <a:lstStyle/>
          <a:p>
            <a:pPr>
              <a:defRPr sz="1300" b="1">
                <a:solidFill>
                  <a:srgbClr val="1E3A8A"/>
                </a:solidFill>
                <a:latin typeface="Calibri"/>
              </a:defRPr>
            </a:pPr>
            <a:r>
              <a:t>1. Arbitrary User Input Engine</a:t>
            </a:r>
          </a:p>
        </p:txBody>
      </p:sp>
      <p:sp>
        <p:nvSpPr>
          <p:cNvPr id="11" name="TextBox 10"/>
          <p:cNvSpPr txBox="1"/>
          <p:nvPr/>
        </p:nvSpPr>
        <p:spPr>
          <a:xfrm>
            <a:off x="868680" y="4023360"/>
            <a:ext cx="3108960" cy="2194560"/>
          </a:xfrm>
          <a:prstGeom prst="rect">
            <a:avLst/>
          </a:prstGeom>
          <a:noFill/>
        </p:spPr>
        <p:txBody>
          <a:bodyPr wrap="square">
            <a:spAutoFit/>
          </a:bodyPr>
          <a:lstStyle/>
          <a:p>
            <a:pPr>
              <a:defRPr sz="1000">
                <a:solidFill>
                  <a:srgbClr val="64748B"/>
                </a:solidFill>
                <a:latin typeface="Calibri"/>
              </a:defRPr>
            </a:pPr>
            <a:r>
              <a:t>- Dynamic Execution:</a:t>
            </a:r>
            <a:br/>
            <a:r>
              <a:t>  Accepts arbitrary source programs from the user at runtime.</a:t>
            </a:r>
            <a:br/>
            <a:br/>
            <a:r>
              <a:t>- Flexible Problem Solving:</a:t>
            </a:r>
            <a:br/>
            <a:r>
              <a:t>  Any mathematical, algorithmic, or control-flow problem can be entered and compiled.</a:t>
            </a:r>
            <a:br/>
            <a:br/>
            <a:r>
              <a:t>- Live Interactive Testing:</a:t>
            </a:r>
            <a:br/>
            <a:r>
              <a:t>  Includes REPL mode for immediate verification.</a:t>
            </a:r>
          </a:p>
        </p:txBody>
      </p:sp>
      <p:sp>
        <p:nvSpPr>
          <p:cNvPr id="12" name="Rounded Rectangle 11"/>
          <p:cNvSpPr/>
          <p:nvPr/>
        </p:nvSpPr>
        <p:spPr>
          <a:xfrm>
            <a:off x="4389120" y="3474720"/>
            <a:ext cx="3383280" cy="2834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611880"/>
            <a:ext cx="3017520" cy="365760"/>
          </a:xfrm>
          <a:prstGeom prst="rect">
            <a:avLst/>
          </a:prstGeom>
          <a:noFill/>
        </p:spPr>
        <p:txBody>
          <a:bodyPr wrap="square">
            <a:spAutoFit/>
          </a:bodyPr>
          <a:lstStyle/>
          <a:p>
            <a:pPr>
              <a:defRPr sz="1300" b="1">
                <a:solidFill>
                  <a:srgbClr val="1E3A8A"/>
                </a:solidFill>
                <a:latin typeface="Calibri"/>
              </a:defRPr>
            </a:pPr>
            <a:r>
              <a:t>2. Deterministic Parsing &amp; AST</a:t>
            </a:r>
          </a:p>
        </p:txBody>
      </p:sp>
      <p:sp>
        <p:nvSpPr>
          <p:cNvPr id="14" name="TextBox 13"/>
          <p:cNvSpPr txBox="1"/>
          <p:nvPr/>
        </p:nvSpPr>
        <p:spPr>
          <a:xfrm>
            <a:off x="4526280" y="4023360"/>
            <a:ext cx="3108960" cy="2194560"/>
          </a:xfrm>
          <a:prstGeom prst="rect">
            <a:avLst/>
          </a:prstGeom>
          <a:noFill/>
        </p:spPr>
        <p:txBody>
          <a:bodyPr wrap="square">
            <a:spAutoFit/>
          </a:bodyPr>
          <a:lstStyle/>
          <a:p>
            <a:pPr>
              <a:defRPr sz="1000">
                <a:solidFill>
                  <a:srgbClr val="64748B"/>
                </a:solidFill>
                <a:latin typeface="Calibri"/>
              </a:defRPr>
            </a:pPr>
            <a:r>
              <a:t>- LL(1) Recursive Descent:</a:t>
            </a:r>
            <a:br/>
            <a:r>
              <a:t>  Unambiguous context-free grammar with zero left-recursion.</a:t>
            </a:r>
            <a:br/>
            <a:br/>
            <a:r>
              <a:t>- Precedence Climbing:</a:t>
            </a:r>
            <a:br/>
            <a:r>
              <a:t>  7 operator priority levels evaluated deterministically.</a:t>
            </a:r>
            <a:br/>
            <a:br/>
            <a:r>
              <a:t>- AST Visualization:</a:t>
            </a:r>
            <a:br/>
            <a:r>
              <a:t>  Discards concrete punctuation while preserving semantic structure.</a:t>
            </a:r>
          </a:p>
        </p:txBody>
      </p:sp>
      <p:sp>
        <p:nvSpPr>
          <p:cNvPr id="15" name="Rounded Rectangle 14"/>
          <p:cNvSpPr/>
          <p:nvPr/>
        </p:nvSpPr>
        <p:spPr>
          <a:xfrm>
            <a:off x="8046720" y="3474720"/>
            <a:ext cx="3413455" cy="2834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611880"/>
            <a:ext cx="3047695" cy="365760"/>
          </a:xfrm>
          <a:prstGeom prst="rect">
            <a:avLst/>
          </a:prstGeom>
          <a:noFill/>
        </p:spPr>
        <p:txBody>
          <a:bodyPr wrap="square">
            <a:spAutoFit/>
          </a:bodyPr>
          <a:lstStyle/>
          <a:p>
            <a:pPr>
              <a:defRPr sz="1300" b="1">
                <a:solidFill>
                  <a:srgbClr val="1E3A8A"/>
                </a:solidFill>
                <a:latin typeface="Calibri"/>
              </a:defRPr>
            </a:pPr>
            <a:r>
              <a:t>3. Scoped Symbol Table</a:t>
            </a:r>
          </a:p>
        </p:txBody>
      </p:sp>
      <p:sp>
        <p:nvSpPr>
          <p:cNvPr id="17" name="TextBox 16"/>
          <p:cNvSpPr txBox="1"/>
          <p:nvPr/>
        </p:nvSpPr>
        <p:spPr>
          <a:xfrm>
            <a:off x="8183879" y="4023360"/>
            <a:ext cx="3108960" cy="2194560"/>
          </a:xfrm>
          <a:prstGeom prst="rect">
            <a:avLst/>
          </a:prstGeom>
          <a:noFill/>
        </p:spPr>
        <p:txBody>
          <a:bodyPr wrap="square">
            <a:spAutoFit/>
          </a:bodyPr>
          <a:lstStyle/>
          <a:p>
            <a:pPr>
              <a:defRPr sz="1000">
                <a:solidFill>
                  <a:srgbClr val="64748B"/>
                </a:solidFill>
                <a:latin typeface="Calibri"/>
              </a:defRPr>
            </a:pPr>
            <a:r>
              <a:t>- Environment Tree:</a:t>
            </a:r>
            <a:br/>
            <a:r>
              <a:t>  Parent-chained scopes for global, function, and block levels.</a:t>
            </a:r>
            <a:br/>
            <a:br/>
            <a:r>
              <a:t>- Immutability Tracking:</a:t>
            </a:r>
            <a:br/>
            <a:r>
              <a:t>  Distinguishes let (mutable) from const (immutable).</a:t>
            </a:r>
            <a:br/>
            <a:br/>
            <a:r>
              <a:t>- Duplicate Prevention:</a:t>
            </a:r>
            <a:br/>
            <a:r>
              <a:t>  Detects illegal redeclarations within the same scope in O(1).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MEASURABLE OBJECTIVES</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Project Objectives &amp; Phased Deliverables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365760"/>
          </a:xfrm>
          <a:prstGeom prst="rect">
            <a:avLst/>
          </a:prstGeom>
          <a:noFill/>
        </p:spPr>
        <p:txBody>
          <a:bodyPr wrap="square">
            <a:spAutoFit/>
          </a:bodyPr>
          <a:lstStyle/>
          <a:p>
            <a:pPr>
              <a:defRPr sz="1300" b="1">
                <a:solidFill>
                  <a:srgbClr val="1E3A8A"/>
                </a:solidFill>
                <a:latin typeface="Calibri"/>
              </a:defRPr>
            </a:pPr>
            <a:r>
              <a:t>Primary Engineering Objectives</a:t>
            </a:r>
          </a:p>
        </p:txBody>
      </p:sp>
      <p:sp>
        <p:nvSpPr>
          <p:cNvPr id="8" name="TextBox 7"/>
          <p:cNvSpPr txBox="1"/>
          <p:nvPr/>
        </p:nvSpPr>
        <p:spPr>
          <a:xfrm>
            <a:off x="914400" y="2103120"/>
            <a:ext cx="4846320" cy="3931920"/>
          </a:xfrm>
          <a:prstGeom prst="rect">
            <a:avLst/>
          </a:prstGeom>
          <a:noFill/>
        </p:spPr>
        <p:txBody>
          <a:bodyPr wrap="square">
            <a:spAutoFit/>
          </a:bodyPr>
          <a:lstStyle/>
          <a:p>
            <a:pPr>
              <a:spcAft>
                <a:spcPts val="800"/>
              </a:spcAft>
              <a:defRPr sz="1000">
                <a:solidFill>
                  <a:srgbClr val="1E293B"/>
                </a:solidFill>
                <a:latin typeface="Calibri"/>
              </a:defRPr>
            </a:pPr>
            <a:r>
              <a:t>- Formal EBNF Grammar: Formulate an unambiguous, mathematically sound Context-Free Grammar covering procedural constructs.</a:t>
            </a:r>
          </a:p>
          <a:p>
            <a:pPr>
              <a:spcAft>
                <a:spcPts val="800"/>
              </a:spcAft>
              <a:defRPr sz="1000">
                <a:solidFill>
                  <a:srgbClr val="1E293B"/>
                </a:solidFill>
                <a:latin typeface="Calibri"/>
              </a:defRPr>
            </a:pPr>
            <a:r>
              <a:t>- Lexical Analysis &amp; Coordinates: Build a lookahead scanner with precise line and column tracking for exact error reporting.</a:t>
            </a:r>
          </a:p>
          <a:p>
            <a:pPr>
              <a:spcAft>
                <a:spcPts val="800"/>
              </a:spcAft>
              <a:defRPr sz="1000">
                <a:solidFill>
                  <a:srgbClr val="1E293B"/>
                </a:solidFill>
                <a:latin typeface="Calibri"/>
              </a:defRPr>
            </a:pPr>
            <a:r>
              <a:t>- Recursive Descent Parser: Implement LL(1) top-down parsing with operator precedence climbing and panic-mode error recovery.</a:t>
            </a:r>
          </a:p>
          <a:p>
            <a:pPr>
              <a:spcAft>
                <a:spcPts val="800"/>
              </a:spcAft>
              <a:defRPr sz="1000">
                <a:solidFill>
                  <a:srgbClr val="1E293B"/>
                </a:solidFill>
                <a:latin typeface="Calibri"/>
              </a:defRPr>
            </a:pPr>
            <a:r>
              <a:t>- Abstract Syntax Tree Synthesis: Construct a strongly-typed, object-oriented AST representation with ASCII tree visualizer.</a:t>
            </a:r>
          </a:p>
          <a:p>
            <a:pPr>
              <a:spcAft>
                <a:spcPts val="800"/>
              </a:spcAft>
              <a:defRPr sz="1000">
                <a:solidFill>
                  <a:srgbClr val="1E293B"/>
                </a:solidFill>
                <a:latin typeface="Calibri"/>
              </a:defRPr>
            </a:pPr>
            <a:r>
              <a:t>- Hierarchical Symbol Table: Implement an environment tree tracking identifier types, categories, and lexical levels.</a:t>
            </a:r>
          </a:p>
          <a:p>
            <a:pPr>
              <a:spcAft>
                <a:spcPts val="800"/>
              </a:spcAft>
              <a:defRPr sz="1000">
                <a:solidFill>
                  <a:srgbClr val="1E293B"/>
                </a:solidFill>
                <a:latin typeface="Calibri"/>
              </a:defRPr>
            </a:pPr>
            <a:r>
              <a:t>- Interactive User CLI &amp; REPL: Provide dynamic user input capabilities to verify any arbitrary program logic on-the-fly.</a:t>
            </a:r>
          </a:p>
        </p:txBody>
      </p:sp>
      <p:sp>
        <p:nvSpPr>
          <p:cNvPr id="9" name="Rounded Rectangle 8"/>
          <p:cNvSpPr/>
          <p:nvPr/>
        </p:nvSpPr>
        <p:spPr>
          <a:xfrm>
            <a:off x="62179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65760"/>
          </a:xfrm>
          <a:prstGeom prst="rect">
            <a:avLst/>
          </a:prstGeom>
          <a:noFill/>
        </p:spPr>
        <p:txBody>
          <a:bodyPr wrap="square">
            <a:spAutoFit/>
          </a:bodyPr>
          <a:lstStyle/>
          <a:p>
            <a:pPr>
              <a:defRPr sz="1300" b="1">
                <a:solidFill>
                  <a:srgbClr val="1E3A8A"/>
                </a:solidFill>
                <a:latin typeface="Calibri"/>
              </a:defRPr>
            </a:pPr>
            <a:r>
              <a:t>Phased Project Roadmap</a:t>
            </a:r>
          </a:p>
        </p:txBody>
      </p:sp>
      <p:sp>
        <p:nvSpPr>
          <p:cNvPr id="11" name="TextBox 10"/>
          <p:cNvSpPr txBox="1"/>
          <p:nvPr/>
        </p:nvSpPr>
        <p:spPr>
          <a:xfrm>
            <a:off x="6400800" y="2103120"/>
            <a:ext cx="4846320" cy="3931920"/>
          </a:xfrm>
          <a:prstGeom prst="rect">
            <a:avLst/>
          </a:prstGeom>
          <a:noFill/>
        </p:spPr>
        <p:txBody>
          <a:bodyPr wrap="square">
            <a:spAutoFit/>
          </a:bodyPr>
          <a:lstStyle/>
          <a:p>
            <a:pPr>
              <a:spcAft>
                <a:spcPts val="200"/>
              </a:spcAft>
              <a:defRPr sz="1050" b="1">
                <a:solidFill>
                  <a:srgbClr val="1E3A8A"/>
                </a:solidFill>
                <a:latin typeface="Calibri"/>
              </a:defRPr>
            </a:pPr>
            <a:r>
              <a:t>- Phase 1: Problem Definition &amp; Front-End Prototype [COMPLETED]</a:t>
            </a:r>
          </a:p>
          <a:p>
            <a:pPr>
              <a:spcAft>
                <a:spcPts val="1200"/>
              </a:spcAft>
              <a:defRPr sz="950">
                <a:solidFill>
                  <a:srgbClr val="64748B"/>
                </a:solidFill>
                <a:latin typeface="Calibri"/>
              </a:defRPr>
            </a:pPr>
            <a:r>
              <a:t>   Formal EBNF grammar, hand-crafted Lexer, LL(1) Parser, AST tree visualizer, Scoped Symbol Table, and interactive user input checker.</a:t>
            </a:r>
          </a:p>
          <a:p>
            <a:pPr>
              <a:spcAft>
                <a:spcPts val="200"/>
              </a:spcAft>
              <a:defRPr sz="1050" b="1">
                <a:solidFill>
                  <a:srgbClr val="0F172A"/>
                </a:solidFill>
                <a:latin typeface="Calibri"/>
              </a:defRPr>
            </a:pPr>
            <a:r>
              <a:t>- Phase 2: Core Implementation [UPCOMING TARGET]</a:t>
            </a:r>
          </a:p>
          <a:p>
            <a:pPr>
              <a:spcAft>
                <a:spcPts val="1200"/>
              </a:spcAft>
              <a:defRPr sz="950">
                <a:solidFill>
                  <a:srgbClr val="64748B"/>
                </a:solidFill>
                <a:latin typeface="Calibri"/>
              </a:defRPr>
            </a:pPr>
            <a:r>
              <a:t>   Semantic analysis, static type checking, immutability enforcement, function signature validation, and Three-Address Code (TAC) generation.</a:t>
            </a:r>
          </a:p>
          <a:p>
            <a:pPr>
              <a:spcAft>
                <a:spcPts val="200"/>
              </a:spcAft>
              <a:defRPr sz="1050" b="1">
                <a:solidFill>
                  <a:srgbClr val="0F172A"/>
                </a:solidFill>
                <a:latin typeface="Calibri"/>
              </a:defRPr>
            </a:pPr>
            <a:r>
              <a:t>- Phase 3: Final Implementation &amp; Optimization [UPCOMING TARGET]</a:t>
            </a:r>
          </a:p>
          <a:p>
            <a:pPr>
              <a:spcAft>
                <a:spcPts val="1200"/>
              </a:spcAft>
              <a:defRPr sz="950">
                <a:solidFill>
                  <a:srgbClr val="64748B"/>
                </a:solidFill>
                <a:latin typeface="Calibri"/>
              </a:defRPr>
            </a:pPr>
            <a:r>
              <a:t>   Machine-independent optimizations (constant folding, algebraic simplification, dead code elimination) and stack-based virtual machine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SCOPE BOUNDARIES</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Scope of the Project -- In-Scope vs. Boundaries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365760"/>
          </a:xfrm>
          <a:prstGeom prst="rect">
            <a:avLst/>
          </a:prstGeom>
          <a:noFill/>
        </p:spPr>
        <p:txBody>
          <a:bodyPr wrap="square">
            <a:spAutoFit/>
          </a:bodyPr>
          <a:lstStyle/>
          <a:p>
            <a:pPr>
              <a:defRPr sz="1300" b="1">
                <a:solidFill>
                  <a:srgbClr val="1E3A8A"/>
                </a:solidFill>
                <a:latin typeface="Calibri"/>
              </a:defRPr>
            </a:pPr>
            <a:r>
              <a:t>In-Scope Language &amp; Compiler Features</a:t>
            </a:r>
          </a:p>
        </p:txBody>
      </p:sp>
      <p:sp>
        <p:nvSpPr>
          <p:cNvPr id="8" name="TextBox 7"/>
          <p:cNvSpPr txBox="1"/>
          <p:nvPr/>
        </p:nvSpPr>
        <p:spPr>
          <a:xfrm>
            <a:off x="914400" y="2103120"/>
            <a:ext cx="4846320" cy="3931920"/>
          </a:xfrm>
          <a:prstGeom prst="rect">
            <a:avLst/>
          </a:prstGeom>
          <a:noFill/>
        </p:spPr>
        <p:txBody>
          <a:bodyPr wrap="square">
            <a:spAutoFit/>
          </a:bodyPr>
          <a:lstStyle/>
          <a:p>
            <a:pPr>
              <a:spcAft>
                <a:spcPts val="700"/>
              </a:spcAft>
              <a:defRPr sz="1000">
                <a:solidFill>
                  <a:srgbClr val="1E293B"/>
                </a:solidFill>
                <a:latin typeface="Calibri"/>
              </a:defRPr>
            </a:pPr>
            <a:r>
              <a:t>- Primitive Data Types: int, float, bool, string, and void (function returns).</a:t>
            </a:r>
          </a:p>
          <a:p>
            <a:pPr>
              <a:spcAft>
                <a:spcPts val="700"/>
              </a:spcAft>
              <a:defRPr sz="1000">
                <a:solidFill>
                  <a:srgbClr val="1E293B"/>
                </a:solidFill>
                <a:latin typeface="Calibri"/>
              </a:defRPr>
            </a:pPr>
            <a:r>
              <a:t>- Variable Declarations: Explicit let (mutable variable) and const (immutable constant).</a:t>
            </a:r>
          </a:p>
          <a:p>
            <a:pPr>
              <a:spcAft>
                <a:spcPts val="700"/>
              </a:spcAft>
              <a:defRPr sz="1000">
                <a:solidFill>
                  <a:srgbClr val="1E293B"/>
                </a:solidFill>
                <a:latin typeface="Calibri"/>
              </a:defRPr>
            </a:pPr>
            <a:r>
              <a:t>- Expression Hierarchy: Arithmetic (+, -, *, /, %), Relational (==, !=, &lt;, &lt;=, &gt;, &gt;=), and Logical (&amp;&amp;, ||, !).</a:t>
            </a:r>
          </a:p>
          <a:p>
            <a:pPr>
              <a:spcAft>
                <a:spcPts val="700"/>
              </a:spcAft>
              <a:defRPr sz="1000">
                <a:solidFill>
                  <a:srgbClr val="1E293B"/>
                </a:solidFill>
                <a:latin typeface="Calibri"/>
              </a:defRPr>
            </a:pPr>
            <a:r>
              <a:t>- Structured Control Flow: Conditionals (if-elif-else), while loops, and initialized for loops.</a:t>
            </a:r>
          </a:p>
          <a:p>
            <a:pPr>
              <a:spcAft>
                <a:spcPts val="700"/>
              </a:spcAft>
              <a:defRPr sz="1000">
                <a:solidFill>
                  <a:srgbClr val="1E293B"/>
                </a:solidFill>
                <a:latin typeface="Calibri"/>
              </a:defRPr>
            </a:pPr>
            <a:r>
              <a:t>- Function Definitions: Formal typed parameters, explicit return types, and local activation records.</a:t>
            </a:r>
          </a:p>
          <a:p>
            <a:pPr>
              <a:spcAft>
                <a:spcPts val="700"/>
              </a:spcAft>
              <a:defRPr sz="1000">
                <a:solidFill>
                  <a:srgbClr val="1E293B"/>
                </a:solidFill>
                <a:latin typeface="Calibri"/>
              </a:defRPr>
            </a:pPr>
            <a:r>
              <a:t>- Intermediate Representation: Three-Address Code (TAC) quadruples with temporary register assignment.</a:t>
            </a:r>
          </a:p>
          <a:p>
            <a:pPr>
              <a:spcAft>
                <a:spcPts val="700"/>
              </a:spcAft>
              <a:defRPr sz="1000">
                <a:solidFill>
                  <a:srgbClr val="1E293B"/>
                </a:solidFill>
                <a:latin typeface="Calibri"/>
              </a:defRPr>
            </a:pPr>
            <a:r>
              <a:t>- Execution Engine: Stack-based virtual machine evaluating intermediate instructions.</a:t>
            </a:r>
          </a:p>
        </p:txBody>
      </p:sp>
      <p:sp>
        <p:nvSpPr>
          <p:cNvPr id="9" name="Rounded Rectangle 8"/>
          <p:cNvSpPr/>
          <p:nvPr/>
        </p:nvSpPr>
        <p:spPr>
          <a:xfrm>
            <a:off x="62179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65760"/>
          </a:xfrm>
          <a:prstGeom prst="rect">
            <a:avLst/>
          </a:prstGeom>
          <a:noFill/>
        </p:spPr>
        <p:txBody>
          <a:bodyPr wrap="square">
            <a:spAutoFit/>
          </a:bodyPr>
          <a:lstStyle/>
          <a:p>
            <a:pPr>
              <a:defRPr sz="1300" b="1">
                <a:solidFill>
                  <a:srgbClr val="1E3A8A"/>
                </a:solidFill>
                <a:latin typeface="Calibri"/>
              </a:defRPr>
            </a:pPr>
            <a:r>
              <a:t>Out-of-Scope Boundaries (Design Non-Goals)</a:t>
            </a:r>
          </a:p>
        </p:txBody>
      </p:sp>
      <p:sp>
        <p:nvSpPr>
          <p:cNvPr id="11" name="TextBox 10"/>
          <p:cNvSpPr txBox="1"/>
          <p:nvPr/>
        </p:nvSpPr>
        <p:spPr>
          <a:xfrm>
            <a:off x="6400800" y="2103120"/>
            <a:ext cx="4846320" cy="3931920"/>
          </a:xfrm>
          <a:prstGeom prst="rect">
            <a:avLst/>
          </a:prstGeom>
          <a:noFill/>
        </p:spPr>
        <p:txBody>
          <a:bodyPr wrap="square">
            <a:spAutoFit/>
          </a:bodyPr>
          <a:lstStyle/>
          <a:p>
            <a:pPr>
              <a:spcAft>
                <a:spcPts val="200"/>
              </a:spcAft>
              <a:defRPr sz="1050" b="1">
                <a:solidFill>
                  <a:srgbClr val="B45309"/>
                </a:solidFill>
                <a:latin typeface="Calibri"/>
              </a:defRPr>
            </a:pPr>
            <a:r>
              <a:t>- Dynamic Heap Garbage Collection:</a:t>
            </a:r>
          </a:p>
          <a:p>
            <a:pPr>
              <a:spcAft>
                <a:spcPts val="1000"/>
              </a:spcAft>
              <a:defRPr sz="950">
                <a:solidFill>
                  <a:srgbClr val="64748B"/>
                </a:solidFill>
                <a:latin typeface="Calibri"/>
              </a:defRPr>
            </a:pPr>
            <a:r>
              <a:t>   Memory follows structured lexical activation records. Complex mark-and-sweep or generational GC is excluded to prioritize compiler translation fundamentals.</a:t>
            </a:r>
          </a:p>
          <a:p>
            <a:pPr>
              <a:spcAft>
                <a:spcPts val="200"/>
              </a:spcAft>
              <a:defRPr sz="1050" b="1">
                <a:solidFill>
                  <a:srgbClr val="B45309"/>
                </a:solidFill>
                <a:latin typeface="Calibri"/>
              </a:defRPr>
            </a:pPr>
            <a:r>
              <a:t>- Complex OOP Inheritance &amp; Virtual Tables:</a:t>
            </a:r>
          </a:p>
          <a:p>
            <a:pPr>
              <a:spcAft>
                <a:spcPts val="1000"/>
              </a:spcAft>
              <a:defRPr sz="950">
                <a:solidFill>
                  <a:srgbClr val="64748B"/>
                </a:solidFill>
                <a:latin typeface="Calibri"/>
              </a:defRPr>
            </a:pPr>
            <a:r>
              <a:t>   Class hierarchies and polymorphic virtual method tables are omitted to maintain focus on procedural compiler pipeline clarity.</a:t>
            </a:r>
          </a:p>
          <a:p>
            <a:pPr>
              <a:spcAft>
                <a:spcPts val="200"/>
              </a:spcAft>
              <a:defRPr sz="1050" b="1">
                <a:solidFill>
                  <a:srgbClr val="B45309"/>
                </a:solidFill>
                <a:latin typeface="Calibri"/>
              </a:defRPr>
            </a:pPr>
            <a:r>
              <a:t>- Hardware Machine Assembly Emission:</a:t>
            </a:r>
          </a:p>
          <a:p>
            <a:pPr>
              <a:spcAft>
                <a:spcPts val="1000"/>
              </a:spcAft>
              <a:defRPr sz="950">
                <a:solidFill>
                  <a:srgbClr val="64748B"/>
                </a:solidFill>
                <a:latin typeface="Calibri"/>
              </a:defRPr>
            </a:pPr>
            <a:r>
              <a:t>   Direct emission of x86-64/ARM machine assembly is replaced with Three-Address Code and bytecode execution to eliminate platform-specific ABI linking quirks.</a:t>
            </a:r>
          </a:p>
          <a:p>
            <a:pPr>
              <a:spcAft>
                <a:spcPts val="200"/>
              </a:spcAft>
              <a:defRPr sz="1050" b="1">
                <a:solidFill>
                  <a:srgbClr val="B45309"/>
                </a:solidFill>
                <a:latin typeface="Calibri"/>
              </a:defRPr>
            </a:pPr>
            <a:r>
              <a:t>- Asynchronous Concurrency:</a:t>
            </a:r>
          </a:p>
          <a:p>
            <a:pPr>
              <a:spcAft>
                <a:spcPts val="1000"/>
              </a:spcAft>
              <a:defRPr sz="950">
                <a:solidFill>
                  <a:srgbClr val="64748B"/>
                </a:solidFill>
                <a:latin typeface="Calibri"/>
              </a:defRPr>
            </a:pPr>
            <a:r>
              <a:t>   Threading primitives and async event loops are omitted to preserve deterministic parsing and intermediate code generation.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CURRICULUM MAPPING</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Compiler Design Concepts Involved</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134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3047695" cy="365760"/>
          </a:xfrm>
          <a:prstGeom prst="rect">
            <a:avLst/>
          </a:prstGeom>
          <a:noFill/>
        </p:spPr>
        <p:txBody>
          <a:bodyPr wrap="square">
            <a:spAutoFit/>
          </a:bodyPr>
          <a:lstStyle/>
          <a:p>
            <a:pPr>
              <a:defRPr sz="1300" b="1">
                <a:solidFill>
                  <a:srgbClr val="1E3A8A"/>
                </a:solidFill>
                <a:latin typeface="Calibri"/>
              </a:defRPr>
            </a:pPr>
            <a:r>
              <a:t>1. Finite Automata &amp; Lexing</a:t>
            </a:r>
          </a:p>
        </p:txBody>
      </p:sp>
      <p:sp>
        <p:nvSpPr>
          <p:cNvPr id="8" name="TextBox 7"/>
          <p:cNvSpPr txBox="1"/>
          <p:nvPr/>
        </p:nvSpPr>
        <p:spPr>
          <a:xfrm>
            <a:off x="868680" y="2057400"/>
            <a:ext cx="3108960" cy="1554480"/>
          </a:xfrm>
          <a:prstGeom prst="rect">
            <a:avLst/>
          </a:prstGeom>
          <a:noFill/>
        </p:spPr>
        <p:txBody>
          <a:bodyPr wrap="square">
            <a:spAutoFit/>
          </a:bodyPr>
          <a:lstStyle/>
          <a:p>
            <a:pPr>
              <a:defRPr sz="950">
                <a:solidFill>
                  <a:srgbClr val="64748B"/>
                </a:solidFill>
                <a:latin typeface="Calibri"/>
              </a:defRPr>
            </a:pPr>
            <a:r>
              <a:t>Regular expressions modeled as Deterministic Finite Automata (DFA). Hand-crafted scanner tracking coordinates (line:col) and handling string escapes and comments.</a:t>
            </a:r>
          </a:p>
        </p:txBody>
      </p:sp>
      <p:sp>
        <p:nvSpPr>
          <p:cNvPr id="9" name="Rounded Rectangle 8"/>
          <p:cNvSpPr/>
          <p:nvPr/>
        </p:nvSpPr>
        <p:spPr>
          <a:xfrm>
            <a:off x="4389120" y="1463040"/>
            <a:ext cx="34134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00200"/>
            <a:ext cx="3047695" cy="365760"/>
          </a:xfrm>
          <a:prstGeom prst="rect">
            <a:avLst/>
          </a:prstGeom>
          <a:noFill/>
        </p:spPr>
        <p:txBody>
          <a:bodyPr wrap="square">
            <a:spAutoFit/>
          </a:bodyPr>
          <a:lstStyle/>
          <a:p>
            <a:pPr>
              <a:defRPr sz="1300" b="1">
                <a:solidFill>
                  <a:srgbClr val="1E3A8A"/>
                </a:solidFill>
                <a:latin typeface="Calibri"/>
              </a:defRPr>
            </a:pPr>
            <a:r>
              <a:t>2. Context-Free Grammars</a:t>
            </a:r>
          </a:p>
        </p:txBody>
      </p:sp>
      <p:sp>
        <p:nvSpPr>
          <p:cNvPr id="11" name="TextBox 10"/>
          <p:cNvSpPr txBox="1"/>
          <p:nvPr/>
        </p:nvSpPr>
        <p:spPr>
          <a:xfrm>
            <a:off x="4526280" y="2057400"/>
            <a:ext cx="3108960" cy="1554480"/>
          </a:xfrm>
          <a:prstGeom prst="rect">
            <a:avLst/>
          </a:prstGeom>
          <a:noFill/>
        </p:spPr>
        <p:txBody>
          <a:bodyPr wrap="square">
            <a:spAutoFit/>
          </a:bodyPr>
          <a:lstStyle/>
          <a:p>
            <a:pPr>
              <a:defRPr sz="950">
                <a:solidFill>
                  <a:srgbClr val="64748B"/>
                </a:solidFill>
                <a:latin typeface="Calibri"/>
              </a:defRPr>
            </a:pPr>
            <a:r>
              <a:t>Formal 4-tuple G = (V, Sigma, R, S) in Extended Backus-Naur Form (EBNF). Eliminates left-recursion and grammar ambiguities.</a:t>
            </a:r>
          </a:p>
        </p:txBody>
      </p:sp>
      <p:sp>
        <p:nvSpPr>
          <p:cNvPr id="12" name="Rounded Rectangle 11"/>
          <p:cNvSpPr/>
          <p:nvPr/>
        </p:nvSpPr>
        <p:spPr>
          <a:xfrm>
            <a:off x="8046720" y="1463040"/>
            <a:ext cx="34134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600200"/>
            <a:ext cx="3047695" cy="365760"/>
          </a:xfrm>
          <a:prstGeom prst="rect">
            <a:avLst/>
          </a:prstGeom>
          <a:noFill/>
        </p:spPr>
        <p:txBody>
          <a:bodyPr wrap="square">
            <a:spAutoFit/>
          </a:bodyPr>
          <a:lstStyle/>
          <a:p>
            <a:pPr>
              <a:defRPr sz="1300" b="1">
                <a:solidFill>
                  <a:srgbClr val="1E3A8A"/>
                </a:solidFill>
                <a:latin typeface="Calibri"/>
              </a:defRPr>
            </a:pPr>
            <a:r>
              <a:t>3. Recursive Descent Parsing</a:t>
            </a:r>
          </a:p>
        </p:txBody>
      </p:sp>
      <p:sp>
        <p:nvSpPr>
          <p:cNvPr id="14" name="TextBox 13"/>
          <p:cNvSpPr txBox="1"/>
          <p:nvPr/>
        </p:nvSpPr>
        <p:spPr>
          <a:xfrm>
            <a:off x="8183880" y="2057400"/>
            <a:ext cx="3108960" cy="1554480"/>
          </a:xfrm>
          <a:prstGeom prst="rect">
            <a:avLst/>
          </a:prstGeom>
          <a:noFill/>
        </p:spPr>
        <p:txBody>
          <a:bodyPr wrap="square">
            <a:spAutoFit/>
          </a:bodyPr>
          <a:lstStyle/>
          <a:p>
            <a:pPr>
              <a:defRPr sz="950">
                <a:solidFill>
                  <a:srgbClr val="64748B"/>
                </a:solidFill>
                <a:latin typeface="Calibri"/>
              </a:defRPr>
            </a:pPr>
            <a:r>
              <a:t>Top-down LL(1) parsing where each non-terminal is a dedicated function. Precedence climbing resolves 7 operator tiers deterministically.</a:t>
            </a:r>
          </a:p>
        </p:txBody>
      </p:sp>
      <p:sp>
        <p:nvSpPr>
          <p:cNvPr id="15" name="Rounded Rectangle 14"/>
          <p:cNvSpPr/>
          <p:nvPr/>
        </p:nvSpPr>
        <p:spPr>
          <a:xfrm>
            <a:off x="731520" y="3931920"/>
            <a:ext cx="34134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69080"/>
            <a:ext cx="3047695" cy="365760"/>
          </a:xfrm>
          <a:prstGeom prst="rect">
            <a:avLst/>
          </a:prstGeom>
          <a:noFill/>
        </p:spPr>
        <p:txBody>
          <a:bodyPr wrap="square">
            <a:spAutoFit/>
          </a:bodyPr>
          <a:lstStyle/>
          <a:p>
            <a:pPr>
              <a:defRPr sz="1300" b="1">
                <a:solidFill>
                  <a:srgbClr val="1E3A8A"/>
                </a:solidFill>
                <a:latin typeface="Calibri"/>
              </a:defRPr>
            </a:pPr>
            <a:r>
              <a:t>4. Abstract Syntax Trees</a:t>
            </a:r>
          </a:p>
        </p:txBody>
      </p:sp>
      <p:sp>
        <p:nvSpPr>
          <p:cNvPr id="17" name="TextBox 16"/>
          <p:cNvSpPr txBox="1"/>
          <p:nvPr/>
        </p:nvSpPr>
        <p:spPr>
          <a:xfrm>
            <a:off x="868680" y="4526280"/>
            <a:ext cx="3108960" cy="1554480"/>
          </a:xfrm>
          <a:prstGeom prst="rect">
            <a:avLst/>
          </a:prstGeom>
          <a:noFill/>
        </p:spPr>
        <p:txBody>
          <a:bodyPr wrap="square">
            <a:spAutoFit/>
          </a:bodyPr>
          <a:lstStyle/>
          <a:p>
            <a:pPr>
              <a:defRPr sz="950">
                <a:solidFill>
                  <a:srgbClr val="64748B"/>
                </a:solidFill>
                <a:latin typeface="Calibri"/>
              </a:defRPr>
            </a:pPr>
            <a:r>
              <a:t>Discards syntactic punctuation (semicolons, parentheses) while preserving operator binding power and statement structure.</a:t>
            </a:r>
          </a:p>
        </p:txBody>
      </p:sp>
      <p:sp>
        <p:nvSpPr>
          <p:cNvPr id="18" name="Rounded Rectangle 17"/>
          <p:cNvSpPr/>
          <p:nvPr/>
        </p:nvSpPr>
        <p:spPr>
          <a:xfrm>
            <a:off x="4389120" y="3931920"/>
            <a:ext cx="34134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069080"/>
            <a:ext cx="3047695" cy="365760"/>
          </a:xfrm>
          <a:prstGeom prst="rect">
            <a:avLst/>
          </a:prstGeom>
          <a:noFill/>
        </p:spPr>
        <p:txBody>
          <a:bodyPr wrap="square">
            <a:spAutoFit/>
          </a:bodyPr>
          <a:lstStyle/>
          <a:p>
            <a:pPr>
              <a:defRPr sz="1300" b="1">
                <a:solidFill>
                  <a:srgbClr val="1E3A8A"/>
                </a:solidFill>
                <a:latin typeface="Calibri"/>
              </a:defRPr>
            </a:pPr>
            <a:r>
              <a:t>5. Scoped Symbol Tables</a:t>
            </a:r>
          </a:p>
        </p:txBody>
      </p:sp>
      <p:sp>
        <p:nvSpPr>
          <p:cNvPr id="20" name="TextBox 19"/>
          <p:cNvSpPr txBox="1"/>
          <p:nvPr/>
        </p:nvSpPr>
        <p:spPr>
          <a:xfrm>
            <a:off x="4526280" y="4526280"/>
            <a:ext cx="3108960" cy="1554480"/>
          </a:xfrm>
          <a:prstGeom prst="rect">
            <a:avLst/>
          </a:prstGeom>
          <a:noFill/>
        </p:spPr>
        <p:txBody>
          <a:bodyPr wrap="square">
            <a:spAutoFit/>
          </a:bodyPr>
          <a:lstStyle/>
          <a:p>
            <a:pPr>
              <a:defRPr sz="950">
                <a:solidFill>
                  <a:srgbClr val="64748B"/>
                </a:solidFill>
                <a:latin typeface="Calibri"/>
              </a:defRPr>
            </a:pPr>
            <a:r>
              <a:t>Environment tree with parent-pointers. Enforces lexical scoping, O(1) duplicate detection, and variable immutability checks.</a:t>
            </a:r>
          </a:p>
        </p:txBody>
      </p:sp>
      <p:sp>
        <p:nvSpPr>
          <p:cNvPr id="21" name="Rounded Rectangle 20"/>
          <p:cNvSpPr/>
          <p:nvPr/>
        </p:nvSpPr>
        <p:spPr>
          <a:xfrm>
            <a:off x="8046720" y="3931920"/>
            <a:ext cx="34134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069080"/>
            <a:ext cx="3047695" cy="365760"/>
          </a:xfrm>
          <a:prstGeom prst="rect">
            <a:avLst/>
          </a:prstGeom>
          <a:noFill/>
        </p:spPr>
        <p:txBody>
          <a:bodyPr wrap="square">
            <a:spAutoFit/>
          </a:bodyPr>
          <a:lstStyle/>
          <a:p>
            <a:pPr>
              <a:defRPr sz="1300" b="1">
                <a:solidFill>
                  <a:srgbClr val="1E3A8A"/>
                </a:solidFill>
                <a:latin typeface="Calibri"/>
              </a:defRPr>
            </a:pPr>
            <a:r>
              <a:t>6. Panic-Mode Recovery</a:t>
            </a:r>
          </a:p>
        </p:txBody>
      </p:sp>
      <p:sp>
        <p:nvSpPr>
          <p:cNvPr id="23" name="TextBox 22"/>
          <p:cNvSpPr txBox="1"/>
          <p:nvPr/>
        </p:nvSpPr>
        <p:spPr>
          <a:xfrm>
            <a:off x="8183880" y="4526280"/>
            <a:ext cx="3108960" cy="1554480"/>
          </a:xfrm>
          <a:prstGeom prst="rect">
            <a:avLst/>
          </a:prstGeom>
          <a:noFill/>
        </p:spPr>
        <p:txBody>
          <a:bodyPr wrap="square">
            <a:spAutoFit/>
          </a:bodyPr>
          <a:lstStyle/>
          <a:p>
            <a:pPr>
              <a:defRPr sz="950">
                <a:solidFill>
                  <a:srgbClr val="64748B"/>
                </a:solidFill>
                <a:latin typeface="Calibri"/>
              </a:defRPr>
            </a:pPr>
            <a:r>
              <a:t>Synchronizes at statement boundaries (semicolons and statement keywords) to report multiple errors in a single compiler pass.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ENGINEERING METHODOLOGY</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Proposed Methodology &amp; Development Lifecycle</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728655"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10362895" cy="365760"/>
          </a:xfrm>
          <a:prstGeom prst="rect">
            <a:avLst/>
          </a:prstGeom>
          <a:noFill/>
        </p:spPr>
        <p:txBody>
          <a:bodyPr wrap="square">
            <a:spAutoFit/>
          </a:bodyPr>
          <a:lstStyle/>
          <a:p>
            <a:pPr>
              <a:defRPr sz="1300" b="1">
                <a:solidFill>
                  <a:srgbClr val="1E3A8A"/>
                </a:solidFill>
                <a:latin typeface="Calibri"/>
              </a:defRPr>
            </a:pPr>
            <a:r>
              <a:t>Multi-Pass Compiler Engineering Model</a:t>
            </a:r>
          </a:p>
        </p:txBody>
      </p:sp>
      <p:sp>
        <p:nvSpPr>
          <p:cNvPr id="8" name="TextBox 7"/>
          <p:cNvSpPr txBox="1"/>
          <p:nvPr/>
        </p:nvSpPr>
        <p:spPr>
          <a:xfrm>
            <a:off x="914400" y="2011680"/>
            <a:ext cx="10332720" cy="4023360"/>
          </a:xfrm>
          <a:prstGeom prst="rect">
            <a:avLst/>
          </a:prstGeom>
          <a:noFill/>
        </p:spPr>
        <p:txBody>
          <a:bodyPr wrap="square">
            <a:spAutoFit/>
          </a:bodyPr>
          <a:lstStyle/>
          <a:p>
            <a:pPr>
              <a:spcAft>
                <a:spcPts val="800"/>
              </a:spcAft>
              <a:defRPr sz="1050">
                <a:solidFill>
                  <a:srgbClr val="1E3A8A"/>
                </a:solidFill>
                <a:latin typeface="Calibri"/>
              </a:defRPr>
            </a:pPr>
            <a:r>
              <a:t>- Pass 1: Lexical Analysis (Scanner):  Converts continuous source text into a discrete Token stream with coordinate attributes.</a:t>
            </a:r>
          </a:p>
          <a:p>
            <a:pPr>
              <a:spcAft>
                <a:spcPts val="800"/>
              </a:spcAft>
              <a:defRPr sz="1050">
                <a:solidFill>
                  <a:srgbClr val="1E3A8A"/>
                </a:solidFill>
                <a:latin typeface="Calibri"/>
              </a:defRPr>
            </a:pPr>
            <a:r>
              <a:t>- Pass 2: Syntax Analysis (Parser):  Validates token stream against EBNF grammar productions and constructs the Abstract Syntax Tree.</a:t>
            </a:r>
          </a:p>
          <a:p>
            <a:pPr>
              <a:spcAft>
                <a:spcPts val="800"/>
              </a:spcAft>
              <a:defRPr sz="1050">
                <a:solidFill>
                  <a:srgbClr val="1E3A8A"/>
                </a:solidFill>
                <a:latin typeface="Calibri"/>
              </a:defRPr>
            </a:pPr>
            <a:r>
              <a:t>- Pass 3: Scoped Symbol Resolution:  Traverses AST to construct lexical scopes, register symbol types, and detect duplicate declarations.</a:t>
            </a:r>
          </a:p>
          <a:p>
            <a:pPr>
              <a:spcAft>
                <a:spcPts val="800"/>
              </a:spcAft>
              <a:defRPr sz="1050">
                <a:solidFill>
                  <a:srgbClr val="1E293B"/>
                </a:solidFill>
                <a:latin typeface="Calibri"/>
              </a:defRPr>
            </a:pPr>
            <a:r>
              <a:t>- Pass 4: Semantic Analysis &amp; Type Checking (Phase 2):  Validates expression types, return types, and prevents mutation of constant identifiers.</a:t>
            </a:r>
          </a:p>
          <a:p>
            <a:pPr>
              <a:spcAft>
                <a:spcPts val="800"/>
              </a:spcAft>
              <a:defRPr sz="1050">
                <a:solidFill>
                  <a:srgbClr val="1E293B"/>
                </a:solidFill>
                <a:latin typeface="Calibri"/>
              </a:defRPr>
            </a:pPr>
            <a:r>
              <a:t>- Pass 5: Intermediate Code Generation (Phase 2):  Flattens AST into linear Three-Address Code (TAC) quadruples with temporary variables.</a:t>
            </a:r>
          </a:p>
          <a:p>
            <a:pPr>
              <a:spcAft>
                <a:spcPts val="800"/>
              </a:spcAft>
              <a:defRPr sz="1050">
                <a:solidFill>
                  <a:srgbClr val="1E293B"/>
                </a:solidFill>
                <a:latin typeface="Calibri"/>
              </a:defRPr>
            </a:pPr>
            <a:r>
              <a:t>- Pass 6: Code Optimization (Phase 3):  Applies machine-independent optimizations: Constant Folding, Algebraic Simplification, Dead Code Elimination.</a:t>
            </a:r>
          </a:p>
          <a:p>
            <a:pPr>
              <a:spcAft>
                <a:spcPts val="800"/>
              </a:spcAft>
              <a:defRPr sz="1050">
                <a:solidFill>
                  <a:srgbClr val="1E293B"/>
                </a:solidFill>
                <a:latin typeface="Calibri"/>
              </a:defRPr>
            </a:pPr>
            <a:r>
              <a:t>- Pass 7: Target Execution (Phase 3):  Executes optimized TAC instructions via a stack-based virtual machine.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ARCHITECTURAL PIPELINE</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System Architecture &amp; Component Interaction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728655"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10362895" cy="365760"/>
          </a:xfrm>
          <a:prstGeom prst="rect">
            <a:avLst/>
          </a:prstGeom>
          <a:noFill/>
        </p:spPr>
        <p:txBody>
          <a:bodyPr wrap="square">
            <a:spAutoFit/>
          </a:bodyPr>
          <a:lstStyle/>
          <a:p>
            <a:pPr>
              <a:defRPr sz="1300" b="1">
                <a:solidFill>
                  <a:srgbClr val="1E3A8A"/>
                </a:solidFill>
                <a:latin typeface="Calibri"/>
              </a:defRPr>
            </a:pPr>
            <a:r>
              <a:t>Data Flow Pipeline</a:t>
            </a:r>
          </a:p>
        </p:txBody>
      </p:sp>
      <p:sp>
        <p:nvSpPr>
          <p:cNvPr id="8" name="TextBox 7"/>
          <p:cNvSpPr txBox="1"/>
          <p:nvPr/>
        </p:nvSpPr>
        <p:spPr>
          <a:xfrm>
            <a:off x="914400" y="2011680"/>
            <a:ext cx="10332720" cy="1097280"/>
          </a:xfrm>
          <a:prstGeom prst="rect">
            <a:avLst/>
          </a:prstGeom>
          <a:noFill/>
        </p:spPr>
        <p:txBody>
          <a:bodyPr wrap="square">
            <a:spAutoFit/>
          </a:bodyPr>
          <a:lstStyle/>
          <a:p>
            <a:pPr>
              <a:defRPr sz="950">
                <a:solidFill>
                  <a:srgbClr val="1E3A8A"/>
                </a:solidFill>
                <a:latin typeface="Courier New"/>
              </a:defRPr>
            </a:pPr>
            <a:r>
              <a:t>Source Input (.zen / User Prompt)  ===&gt;  [ Lexical Analyzer (lexer.py) ]  ===&gt;  Token Stream</a:t>
            </a:r>
            <a:br/>
            <a:r>
              <a:t>                                               │</a:t>
            </a:r>
            <a:br/>
            <a:r>
              <a:t>                                               ▼</a:t>
            </a:r>
            <a:br/>
            <a:r>
              <a:t>Token Stream                       ===&gt;  [ Recursive Descent Parser (parser.py) ]  ===&gt;  AST</a:t>
            </a:r>
            <a:br/>
            <a:r>
              <a:t>                                               │</a:t>
            </a:r>
            <a:br/>
            <a:r>
              <a:t>                                               ▼</a:t>
            </a:r>
            <a:br/>
            <a:r>
              <a:t>Abstract Syntax Tree (AST)         ===&gt;  [ Symbol Table Builder (symbol_table.py) ]  ===&gt;  Scoped Environments</a:t>
            </a:r>
            <a:br/>
            <a:r>
              <a:t>                                               │</a:t>
            </a:r>
            <a:br/>
            <a:r>
              <a:t>                                               ▼</a:t>
            </a:r>
            <a:br/>
            <a:r>
              <a:t>AST &amp; Scoped Environments          ===&gt;  [ Terminal Visualizer &amp; CLI (printer.py / main.py) ]</a:t>
            </a:r>
          </a:p>
        </p:txBody>
      </p:sp>
      <p:sp>
        <p:nvSpPr>
          <p:cNvPr id="9" name="Rounded Rectangle 8"/>
          <p:cNvSpPr/>
          <p:nvPr/>
        </p:nvSpPr>
        <p:spPr>
          <a:xfrm>
            <a:off x="731520" y="3474720"/>
            <a:ext cx="3413455"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611880"/>
            <a:ext cx="3047695" cy="365760"/>
          </a:xfrm>
          <a:prstGeom prst="rect">
            <a:avLst/>
          </a:prstGeom>
          <a:noFill/>
        </p:spPr>
        <p:txBody>
          <a:bodyPr wrap="square">
            <a:spAutoFit/>
          </a:bodyPr>
          <a:lstStyle/>
          <a:p>
            <a:pPr>
              <a:defRPr sz="1300" b="1">
                <a:solidFill>
                  <a:srgbClr val="1E3A8A"/>
                </a:solidFill>
                <a:latin typeface="Calibri"/>
              </a:defRPr>
            </a:pPr>
            <a:r>
              <a:t>src/tokens.py</a:t>
            </a:r>
          </a:p>
        </p:txBody>
      </p:sp>
      <p:sp>
        <p:nvSpPr>
          <p:cNvPr id="11" name="TextBox 10"/>
          <p:cNvSpPr txBox="1"/>
          <p:nvPr/>
        </p:nvSpPr>
        <p:spPr>
          <a:xfrm>
            <a:off x="868680" y="3977640"/>
            <a:ext cx="3108960" cy="777240"/>
          </a:xfrm>
          <a:prstGeom prst="rect">
            <a:avLst/>
          </a:prstGeom>
          <a:noFill/>
        </p:spPr>
        <p:txBody>
          <a:bodyPr wrap="square">
            <a:spAutoFit/>
          </a:bodyPr>
          <a:lstStyle/>
          <a:p>
            <a:pPr>
              <a:defRPr sz="900">
                <a:solidFill>
                  <a:srgbClr val="64748B"/>
                </a:solidFill>
                <a:latin typeface="Calibri"/>
              </a:defRPr>
            </a:pPr>
            <a:r>
              <a:t>TokenType enum (34 token types) and Token dataclass with line/col metadata.</a:t>
            </a:r>
          </a:p>
        </p:txBody>
      </p:sp>
      <p:sp>
        <p:nvSpPr>
          <p:cNvPr id="12" name="Rounded Rectangle 11"/>
          <p:cNvSpPr/>
          <p:nvPr/>
        </p:nvSpPr>
        <p:spPr>
          <a:xfrm>
            <a:off x="4389120" y="3474720"/>
            <a:ext cx="3413455"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611880"/>
            <a:ext cx="3047695" cy="365760"/>
          </a:xfrm>
          <a:prstGeom prst="rect">
            <a:avLst/>
          </a:prstGeom>
          <a:noFill/>
        </p:spPr>
        <p:txBody>
          <a:bodyPr wrap="square">
            <a:spAutoFit/>
          </a:bodyPr>
          <a:lstStyle/>
          <a:p>
            <a:pPr>
              <a:defRPr sz="1300" b="1">
                <a:solidFill>
                  <a:srgbClr val="1E3A8A"/>
                </a:solidFill>
                <a:latin typeface="Calibri"/>
              </a:defRPr>
            </a:pPr>
            <a:r>
              <a:t>src/lexer.py</a:t>
            </a:r>
          </a:p>
        </p:txBody>
      </p:sp>
      <p:sp>
        <p:nvSpPr>
          <p:cNvPr id="14" name="TextBox 13"/>
          <p:cNvSpPr txBox="1"/>
          <p:nvPr/>
        </p:nvSpPr>
        <p:spPr>
          <a:xfrm>
            <a:off x="4526280" y="3977640"/>
            <a:ext cx="3108960" cy="777240"/>
          </a:xfrm>
          <a:prstGeom prst="rect">
            <a:avLst/>
          </a:prstGeom>
          <a:noFill/>
        </p:spPr>
        <p:txBody>
          <a:bodyPr wrap="square">
            <a:spAutoFit/>
          </a:bodyPr>
          <a:lstStyle/>
          <a:p>
            <a:pPr>
              <a:defRPr sz="900">
                <a:solidFill>
                  <a:srgbClr val="64748B"/>
                </a:solidFill>
                <a:latin typeface="Calibri"/>
              </a:defRPr>
            </a:pPr>
            <a:r>
              <a:t>Hand-crafted scanner handling keywords, identifiers, literals, comments, and lookahead.</a:t>
            </a:r>
          </a:p>
        </p:txBody>
      </p:sp>
      <p:sp>
        <p:nvSpPr>
          <p:cNvPr id="15" name="Rounded Rectangle 14"/>
          <p:cNvSpPr/>
          <p:nvPr/>
        </p:nvSpPr>
        <p:spPr>
          <a:xfrm>
            <a:off x="8046720" y="3474720"/>
            <a:ext cx="3413455"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611880"/>
            <a:ext cx="3047695" cy="365760"/>
          </a:xfrm>
          <a:prstGeom prst="rect">
            <a:avLst/>
          </a:prstGeom>
          <a:noFill/>
        </p:spPr>
        <p:txBody>
          <a:bodyPr wrap="square">
            <a:spAutoFit/>
          </a:bodyPr>
          <a:lstStyle/>
          <a:p>
            <a:pPr>
              <a:defRPr sz="1300" b="1">
                <a:solidFill>
                  <a:srgbClr val="1E3A8A"/>
                </a:solidFill>
                <a:latin typeface="Calibri"/>
              </a:defRPr>
            </a:pPr>
            <a:r>
              <a:t>src/ast_nodes.py</a:t>
            </a:r>
          </a:p>
        </p:txBody>
      </p:sp>
      <p:sp>
        <p:nvSpPr>
          <p:cNvPr id="17" name="TextBox 16"/>
          <p:cNvSpPr txBox="1"/>
          <p:nvPr/>
        </p:nvSpPr>
        <p:spPr>
          <a:xfrm>
            <a:off x="8183880" y="3977640"/>
            <a:ext cx="3108960" cy="777240"/>
          </a:xfrm>
          <a:prstGeom prst="rect">
            <a:avLst/>
          </a:prstGeom>
          <a:noFill/>
        </p:spPr>
        <p:txBody>
          <a:bodyPr wrap="square">
            <a:spAutoFit/>
          </a:bodyPr>
          <a:lstStyle/>
          <a:p>
            <a:pPr>
              <a:defRPr sz="900">
                <a:solidFill>
                  <a:srgbClr val="64748B"/>
                </a:solidFill>
                <a:latin typeface="Calibri"/>
              </a:defRPr>
            </a:pPr>
            <a:r>
              <a:t>Object-oriented AST dataclasses for statements, expressions, blocks, and parameters.</a:t>
            </a:r>
          </a:p>
        </p:txBody>
      </p:sp>
      <p:sp>
        <p:nvSpPr>
          <p:cNvPr id="18" name="Rounded Rectangle 17"/>
          <p:cNvSpPr/>
          <p:nvPr/>
        </p:nvSpPr>
        <p:spPr>
          <a:xfrm>
            <a:off x="731520" y="4937760"/>
            <a:ext cx="3413455"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74920"/>
            <a:ext cx="3047695" cy="365760"/>
          </a:xfrm>
          <a:prstGeom prst="rect">
            <a:avLst/>
          </a:prstGeom>
          <a:noFill/>
        </p:spPr>
        <p:txBody>
          <a:bodyPr wrap="square">
            <a:spAutoFit/>
          </a:bodyPr>
          <a:lstStyle/>
          <a:p>
            <a:pPr>
              <a:defRPr sz="1300" b="1">
                <a:solidFill>
                  <a:srgbClr val="1E3A8A"/>
                </a:solidFill>
                <a:latin typeface="Calibri"/>
              </a:defRPr>
            </a:pPr>
            <a:r>
              <a:t>src/parser.py</a:t>
            </a:r>
          </a:p>
        </p:txBody>
      </p:sp>
      <p:sp>
        <p:nvSpPr>
          <p:cNvPr id="20" name="TextBox 19"/>
          <p:cNvSpPr txBox="1"/>
          <p:nvPr/>
        </p:nvSpPr>
        <p:spPr>
          <a:xfrm>
            <a:off x="868680" y="5440680"/>
            <a:ext cx="3108960" cy="777240"/>
          </a:xfrm>
          <a:prstGeom prst="rect">
            <a:avLst/>
          </a:prstGeom>
          <a:noFill/>
        </p:spPr>
        <p:txBody>
          <a:bodyPr wrap="square">
            <a:spAutoFit/>
          </a:bodyPr>
          <a:lstStyle/>
          <a:p>
            <a:pPr>
              <a:defRPr sz="900">
                <a:solidFill>
                  <a:srgbClr val="64748B"/>
                </a:solidFill>
                <a:latin typeface="Calibri"/>
              </a:defRPr>
            </a:pPr>
            <a:r>
              <a:t>LL(1) recursive descent parser with precedence climbing and panic-mode recovery.</a:t>
            </a:r>
          </a:p>
        </p:txBody>
      </p:sp>
      <p:sp>
        <p:nvSpPr>
          <p:cNvPr id="21" name="Rounded Rectangle 20"/>
          <p:cNvSpPr/>
          <p:nvPr/>
        </p:nvSpPr>
        <p:spPr>
          <a:xfrm>
            <a:off x="4389120" y="4937760"/>
            <a:ext cx="3413455"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074920"/>
            <a:ext cx="3047695" cy="365760"/>
          </a:xfrm>
          <a:prstGeom prst="rect">
            <a:avLst/>
          </a:prstGeom>
          <a:noFill/>
        </p:spPr>
        <p:txBody>
          <a:bodyPr wrap="square">
            <a:spAutoFit/>
          </a:bodyPr>
          <a:lstStyle/>
          <a:p>
            <a:pPr>
              <a:defRPr sz="1300" b="1">
                <a:solidFill>
                  <a:srgbClr val="1E3A8A"/>
                </a:solidFill>
                <a:latin typeface="Calibri"/>
              </a:defRPr>
            </a:pPr>
            <a:r>
              <a:t>src/symbol_table.py</a:t>
            </a:r>
          </a:p>
        </p:txBody>
      </p:sp>
      <p:sp>
        <p:nvSpPr>
          <p:cNvPr id="23" name="TextBox 22"/>
          <p:cNvSpPr txBox="1"/>
          <p:nvPr/>
        </p:nvSpPr>
        <p:spPr>
          <a:xfrm>
            <a:off x="4526280" y="5440680"/>
            <a:ext cx="3108960" cy="777240"/>
          </a:xfrm>
          <a:prstGeom prst="rect">
            <a:avLst/>
          </a:prstGeom>
          <a:noFill/>
        </p:spPr>
        <p:txBody>
          <a:bodyPr wrap="square">
            <a:spAutoFit/>
          </a:bodyPr>
          <a:lstStyle/>
          <a:p>
            <a:pPr>
              <a:defRPr sz="900">
                <a:solidFill>
                  <a:srgbClr val="64748B"/>
                </a:solidFill>
                <a:latin typeface="Calibri"/>
              </a:defRPr>
            </a:pPr>
            <a:r>
              <a:t>Hierarchical scoped symbol table managing local, function, and global environments.</a:t>
            </a:r>
          </a:p>
        </p:txBody>
      </p:sp>
      <p:sp>
        <p:nvSpPr>
          <p:cNvPr id="24" name="Rounded Rectangle 23"/>
          <p:cNvSpPr/>
          <p:nvPr/>
        </p:nvSpPr>
        <p:spPr>
          <a:xfrm>
            <a:off x="8046720" y="4937760"/>
            <a:ext cx="3413455"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5074920"/>
            <a:ext cx="3047695" cy="365760"/>
          </a:xfrm>
          <a:prstGeom prst="rect">
            <a:avLst/>
          </a:prstGeom>
          <a:noFill/>
        </p:spPr>
        <p:txBody>
          <a:bodyPr wrap="square">
            <a:spAutoFit/>
          </a:bodyPr>
          <a:lstStyle/>
          <a:p>
            <a:pPr>
              <a:defRPr sz="1300" b="1">
                <a:solidFill>
                  <a:srgbClr val="1E3A8A"/>
                </a:solidFill>
                <a:latin typeface="Calibri"/>
              </a:defRPr>
            </a:pPr>
            <a:r>
              <a:t>src/main.py &amp; printer.py</a:t>
            </a:r>
          </a:p>
        </p:txBody>
      </p:sp>
      <p:sp>
        <p:nvSpPr>
          <p:cNvPr id="26" name="TextBox 25"/>
          <p:cNvSpPr txBox="1"/>
          <p:nvPr/>
        </p:nvSpPr>
        <p:spPr>
          <a:xfrm>
            <a:off x="8183880" y="5440680"/>
            <a:ext cx="3108960" cy="777240"/>
          </a:xfrm>
          <a:prstGeom prst="rect">
            <a:avLst/>
          </a:prstGeom>
          <a:noFill/>
        </p:spPr>
        <p:txBody>
          <a:bodyPr wrap="square">
            <a:spAutoFit/>
          </a:bodyPr>
          <a:lstStyle/>
          <a:p>
            <a:pPr>
              <a:defRPr sz="900">
                <a:solidFill>
                  <a:srgbClr val="64748B"/>
                </a:solidFill>
                <a:latin typeface="Calibri"/>
              </a:defRPr>
            </a:pPr>
            <a:r>
              <a:t>CLI driver, ASCII tree visualizer, and interactive REPL checker for user input.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TOOLS &amp; GRAMMAR</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Technology Stack &amp; Language Specification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365760"/>
          </a:xfrm>
          <a:prstGeom prst="rect">
            <a:avLst/>
          </a:prstGeom>
          <a:noFill/>
        </p:spPr>
        <p:txBody>
          <a:bodyPr wrap="square">
            <a:spAutoFit/>
          </a:bodyPr>
          <a:lstStyle/>
          <a:p>
            <a:pPr>
              <a:defRPr sz="1300" b="1">
                <a:solidFill>
                  <a:srgbClr val="1E3A8A"/>
                </a:solidFill>
                <a:latin typeface="Calibri"/>
              </a:defRPr>
            </a:pPr>
            <a:r>
              <a:t>Technology Stack &amp; Feasibility</a:t>
            </a:r>
          </a:p>
        </p:txBody>
      </p:sp>
      <p:sp>
        <p:nvSpPr>
          <p:cNvPr id="8" name="TextBox 7"/>
          <p:cNvSpPr txBox="1"/>
          <p:nvPr/>
        </p:nvSpPr>
        <p:spPr>
          <a:xfrm>
            <a:off x="914400" y="2103120"/>
            <a:ext cx="4846320" cy="3931920"/>
          </a:xfrm>
          <a:prstGeom prst="rect">
            <a:avLst/>
          </a:prstGeom>
          <a:noFill/>
        </p:spPr>
        <p:txBody>
          <a:bodyPr wrap="square">
            <a:spAutoFit/>
          </a:bodyPr>
          <a:lstStyle/>
          <a:p>
            <a:pPr>
              <a:spcAft>
                <a:spcPts val="800"/>
              </a:spcAft>
              <a:defRPr sz="1000">
                <a:solidFill>
                  <a:srgbClr val="1E293B"/>
                </a:solidFill>
                <a:latin typeface="Calibri"/>
              </a:defRPr>
            </a:pPr>
            <a:r>
              <a:t>- Language: Python 3.9+ (Standard Library Only).</a:t>
            </a:r>
          </a:p>
          <a:p>
            <a:pPr>
              <a:spcAft>
                <a:spcPts val="800"/>
              </a:spcAft>
              <a:defRPr sz="1000">
                <a:solidFill>
                  <a:srgbClr val="1E293B"/>
                </a:solidFill>
                <a:latin typeface="Calibri"/>
              </a:defRPr>
            </a:pPr>
            <a:r>
              <a:t>- Zero Toolchain Dependencies: Eliminates build and linking failures common in C/C++ Flex/Bison cross-platform configurations.</a:t>
            </a:r>
          </a:p>
          <a:p>
            <a:pPr>
              <a:spcAft>
                <a:spcPts val="800"/>
              </a:spcAft>
              <a:defRPr sz="1000">
                <a:solidFill>
                  <a:srgbClr val="1E293B"/>
                </a:solidFill>
                <a:latin typeface="Calibri"/>
              </a:defRPr>
            </a:pPr>
            <a:r>
              <a:t>- High Code Maintainability: Leverages Python dataclasses, recursive functions, and pattern matching for clean AST traversal.</a:t>
            </a:r>
          </a:p>
          <a:p>
            <a:pPr>
              <a:spcAft>
                <a:spcPts val="800"/>
              </a:spcAft>
              <a:defRPr sz="1000">
                <a:solidFill>
                  <a:srgbClr val="1E293B"/>
                </a:solidFill>
                <a:latin typeface="Calibri"/>
              </a:defRPr>
            </a:pPr>
            <a:r>
              <a:t>- Cross-Platform Portability: Runs natively on macOS, Linux, and Windows without binary recompilation.</a:t>
            </a:r>
          </a:p>
        </p:txBody>
      </p:sp>
      <p:sp>
        <p:nvSpPr>
          <p:cNvPr id="9" name="Rounded Rectangle 8"/>
          <p:cNvSpPr/>
          <p:nvPr/>
        </p:nvSpPr>
        <p:spPr>
          <a:xfrm>
            <a:off x="6217920" y="146304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65760"/>
          </a:xfrm>
          <a:prstGeom prst="rect">
            <a:avLst/>
          </a:prstGeom>
          <a:noFill/>
        </p:spPr>
        <p:txBody>
          <a:bodyPr wrap="square">
            <a:spAutoFit/>
          </a:bodyPr>
          <a:lstStyle/>
          <a:p>
            <a:pPr>
              <a:defRPr sz="1300" b="1">
                <a:solidFill>
                  <a:srgbClr val="1E3A8A"/>
                </a:solidFill>
                <a:latin typeface="Calibri"/>
              </a:defRPr>
            </a:pPr>
            <a:r>
              <a:t>Operator Precedence Hierarchy</a:t>
            </a:r>
          </a:p>
        </p:txBody>
      </p:sp>
      <p:sp>
        <p:nvSpPr>
          <p:cNvPr id="11" name="TextBox 10"/>
          <p:cNvSpPr txBox="1"/>
          <p:nvPr/>
        </p:nvSpPr>
        <p:spPr>
          <a:xfrm>
            <a:off x="6400800" y="2103120"/>
            <a:ext cx="4846320" cy="3931920"/>
          </a:xfrm>
          <a:prstGeom prst="rect">
            <a:avLst/>
          </a:prstGeom>
          <a:noFill/>
        </p:spPr>
        <p:txBody>
          <a:bodyPr wrap="square">
            <a:spAutoFit/>
          </a:bodyPr>
          <a:lstStyle/>
          <a:p>
            <a:pPr>
              <a:spcAft>
                <a:spcPts val="600"/>
              </a:spcAft>
              <a:defRPr sz="1000">
                <a:solidFill>
                  <a:srgbClr val="1E3A8A"/>
                </a:solidFill>
                <a:latin typeface="Calibri"/>
              </a:defRPr>
            </a:pPr>
            <a:r>
              <a:t>- Level 1 (Lowest):  Logical OR (||)  --  Left-to-Right</a:t>
            </a:r>
          </a:p>
          <a:p>
            <a:pPr>
              <a:spcAft>
                <a:spcPts val="600"/>
              </a:spcAft>
              <a:defRPr sz="1000">
                <a:solidFill>
                  <a:srgbClr val="1E3A8A"/>
                </a:solidFill>
                <a:latin typeface="Calibri"/>
              </a:defRPr>
            </a:pPr>
            <a:r>
              <a:t>- Level 2:  Logical AND (&amp;&amp;)  --  Left-to-Right</a:t>
            </a:r>
          </a:p>
          <a:p>
            <a:pPr>
              <a:spcAft>
                <a:spcPts val="600"/>
              </a:spcAft>
              <a:defRPr sz="1000">
                <a:solidFill>
                  <a:srgbClr val="1E3A8A"/>
                </a:solidFill>
                <a:latin typeface="Calibri"/>
              </a:defRPr>
            </a:pPr>
            <a:r>
              <a:t>- Level 3:  Equality (==, !=)  --  Left-to-Right</a:t>
            </a:r>
          </a:p>
          <a:p>
            <a:pPr>
              <a:spcAft>
                <a:spcPts val="600"/>
              </a:spcAft>
              <a:defRPr sz="1000">
                <a:solidFill>
                  <a:srgbClr val="1E3A8A"/>
                </a:solidFill>
                <a:latin typeface="Calibri"/>
              </a:defRPr>
            </a:pPr>
            <a:r>
              <a:t>- Level 4:  Relational (&lt;, &lt;=, &gt;, &gt;=)  --  Left-to-Right</a:t>
            </a:r>
          </a:p>
          <a:p>
            <a:pPr>
              <a:spcAft>
                <a:spcPts val="600"/>
              </a:spcAft>
              <a:defRPr sz="1000">
                <a:solidFill>
                  <a:srgbClr val="1E3A8A"/>
                </a:solidFill>
                <a:latin typeface="Calibri"/>
              </a:defRPr>
            </a:pPr>
            <a:r>
              <a:t>- Level 5:  Additive (+, -)  --  Left-to-Right</a:t>
            </a:r>
          </a:p>
          <a:p>
            <a:pPr>
              <a:spcAft>
                <a:spcPts val="600"/>
              </a:spcAft>
              <a:defRPr sz="1000">
                <a:solidFill>
                  <a:srgbClr val="1E3A8A"/>
                </a:solidFill>
                <a:latin typeface="Calibri"/>
              </a:defRPr>
            </a:pPr>
            <a:r>
              <a:t>- Level 6:  Multiplicative (*, /, %)  --  Left-to-Right</a:t>
            </a:r>
          </a:p>
          <a:p>
            <a:pPr>
              <a:spcAft>
                <a:spcPts val="600"/>
              </a:spcAft>
              <a:defRPr sz="1000">
                <a:solidFill>
                  <a:srgbClr val="1E3A8A"/>
                </a:solidFill>
                <a:latin typeface="Calibri"/>
              </a:defRPr>
            </a:pPr>
            <a:r>
              <a:t>- Level 7 (Highest):  Unary (- , !)  --  Right-to-Left prefix binding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PROJECT NOVELTY</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Innovation, Originality &amp; Unique Features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422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76495" cy="365760"/>
          </a:xfrm>
          <a:prstGeom prst="rect">
            <a:avLst/>
          </a:prstGeom>
          <a:noFill/>
        </p:spPr>
        <p:txBody>
          <a:bodyPr wrap="square">
            <a:spAutoFit/>
          </a:bodyPr>
          <a:lstStyle/>
          <a:p>
            <a:pPr>
              <a:defRPr sz="1300" b="1">
                <a:solidFill>
                  <a:srgbClr val="1E3A8A"/>
                </a:solidFill>
                <a:latin typeface="Calibri"/>
              </a:defRPr>
            </a:pPr>
            <a:r>
              <a:t>1. Dynamic User Input Engine</a:t>
            </a:r>
          </a:p>
        </p:txBody>
      </p:sp>
      <p:sp>
        <p:nvSpPr>
          <p:cNvPr id="8" name="TextBox 7"/>
          <p:cNvSpPr txBox="1"/>
          <p:nvPr/>
        </p:nvSpPr>
        <p:spPr>
          <a:xfrm>
            <a:off x="914400" y="2103120"/>
            <a:ext cx="4846320" cy="1463040"/>
          </a:xfrm>
          <a:prstGeom prst="rect">
            <a:avLst/>
          </a:prstGeom>
          <a:noFill/>
        </p:spPr>
        <p:txBody>
          <a:bodyPr wrap="square">
            <a:spAutoFit/>
          </a:bodyPr>
          <a:lstStyle/>
          <a:p>
            <a:pPr>
              <a:lnSpc>
                <a:spcPct val="130000"/>
              </a:lnSpc>
              <a:defRPr sz="1050">
                <a:solidFill>
                  <a:srgbClr val="64748B"/>
                </a:solidFill>
                <a:latin typeface="Calibri"/>
              </a:defRPr>
            </a:pPr>
            <a:r>
              <a:t>The compiler includes an interactive CLI and REPL (run_interactive.py) allowing users to enter ANY arbitrary computational problem or algorithmic logic at runtime. It is not restricted to static files.</a:t>
            </a:r>
          </a:p>
        </p:txBody>
      </p:sp>
      <p:sp>
        <p:nvSpPr>
          <p:cNvPr id="9" name="Rounded Rectangle 8"/>
          <p:cNvSpPr/>
          <p:nvPr/>
        </p:nvSpPr>
        <p:spPr>
          <a:xfrm>
            <a:off x="6217920" y="1463040"/>
            <a:ext cx="52422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76495" cy="365760"/>
          </a:xfrm>
          <a:prstGeom prst="rect">
            <a:avLst/>
          </a:prstGeom>
          <a:noFill/>
        </p:spPr>
        <p:txBody>
          <a:bodyPr wrap="square">
            <a:spAutoFit/>
          </a:bodyPr>
          <a:lstStyle/>
          <a:p>
            <a:pPr>
              <a:defRPr sz="1300" b="1">
                <a:solidFill>
                  <a:srgbClr val="1E3A8A"/>
                </a:solidFill>
                <a:latin typeface="Calibri"/>
              </a:defRPr>
            </a:pPr>
            <a:r>
              <a:t>2. Compile-Time Immutability</a:t>
            </a:r>
          </a:p>
        </p:txBody>
      </p:sp>
      <p:sp>
        <p:nvSpPr>
          <p:cNvPr id="11" name="TextBox 10"/>
          <p:cNvSpPr txBox="1"/>
          <p:nvPr/>
        </p:nvSpPr>
        <p:spPr>
          <a:xfrm>
            <a:off x="6400800" y="2103120"/>
            <a:ext cx="4846320" cy="1463040"/>
          </a:xfrm>
          <a:prstGeom prst="rect">
            <a:avLst/>
          </a:prstGeom>
          <a:noFill/>
        </p:spPr>
        <p:txBody>
          <a:bodyPr wrap="square">
            <a:spAutoFit/>
          </a:bodyPr>
          <a:lstStyle/>
          <a:p>
            <a:pPr>
              <a:lnSpc>
                <a:spcPct val="130000"/>
              </a:lnSpc>
              <a:defRPr sz="1050">
                <a:solidFill>
                  <a:srgbClr val="64748B"/>
                </a:solidFill>
                <a:latin typeface="Calibri"/>
              </a:defRPr>
            </a:pPr>
            <a:r>
              <a:t>Explicit semantic enforcement of let (mutable) vs const (immutable). Reassignments to constants are caught and rejected at compile time before execution begins.</a:t>
            </a:r>
          </a:p>
        </p:txBody>
      </p:sp>
      <p:sp>
        <p:nvSpPr>
          <p:cNvPr id="12" name="Rounded Rectangle 11"/>
          <p:cNvSpPr/>
          <p:nvPr/>
        </p:nvSpPr>
        <p:spPr>
          <a:xfrm>
            <a:off x="731520" y="3931920"/>
            <a:ext cx="52422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4876495" cy="365760"/>
          </a:xfrm>
          <a:prstGeom prst="rect">
            <a:avLst/>
          </a:prstGeom>
          <a:noFill/>
        </p:spPr>
        <p:txBody>
          <a:bodyPr wrap="square">
            <a:spAutoFit/>
          </a:bodyPr>
          <a:lstStyle/>
          <a:p>
            <a:pPr>
              <a:defRPr sz="1300" b="1">
                <a:solidFill>
                  <a:srgbClr val="1E3A8A"/>
                </a:solidFill>
                <a:latin typeface="Calibri"/>
              </a:defRPr>
            </a:pPr>
            <a:r>
              <a:t>3. Pedagogical AST Visualizer</a:t>
            </a:r>
          </a:p>
        </p:txBody>
      </p:sp>
      <p:sp>
        <p:nvSpPr>
          <p:cNvPr id="14" name="TextBox 13"/>
          <p:cNvSpPr txBox="1"/>
          <p:nvPr/>
        </p:nvSpPr>
        <p:spPr>
          <a:xfrm>
            <a:off x="914400" y="4572000"/>
            <a:ext cx="4846320" cy="1463040"/>
          </a:xfrm>
          <a:prstGeom prst="rect">
            <a:avLst/>
          </a:prstGeom>
          <a:noFill/>
        </p:spPr>
        <p:txBody>
          <a:bodyPr wrap="square">
            <a:spAutoFit/>
          </a:bodyPr>
          <a:lstStyle/>
          <a:p>
            <a:pPr>
              <a:lnSpc>
                <a:spcPct val="130000"/>
              </a:lnSpc>
              <a:defRPr sz="1050">
                <a:solidFill>
                  <a:srgbClr val="64748B"/>
                </a:solidFill>
                <a:latin typeface="Calibri"/>
              </a:defRPr>
            </a:pPr>
            <a:r>
              <a:t>Renders complete hierarchical ASCII syntax trees in terminal output, allowing evaluators and students to visually trace parsing decisions and operator binding power.</a:t>
            </a:r>
          </a:p>
        </p:txBody>
      </p:sp>
      <p:sp>
        <p:nvSpPr>
          <p:cNvPr id="15" name="Rounded Rectangle 14"/>
          <p:cNvSpPr/>
          <p:nvPr/>
        </p:nvSpPr>
        <p:spPr>
          <a:xfrm>
            <a:off x="6217920" y="3931920"/>
            <a:ext cx="52422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69080"/>
            <a:ext cx="4876495" cy="365760"/>
          </a:xfrm>
          <a:prstGeom prst="rect">
            <a:avLst/>
          </a:prstGeom>
          <a:noFill/>
        </p:spPr>
        <p:txBody>
          <a:bodyPr wrap="square">
            <a:spAutoFit/>
          </a:bodyPr>
          <a:lstStyle/>
          <a:p>
            <a:pPr>
              <a:defRPr sz="1300" b="1">
                <a:solidFill>
                  <a:srgbClr val="1E3A8A"/>
                </a:solidFill>
                <a:latin typeface="Calibri"/>
              </a:defRPr>
            </a:pPr>
            <a:r>
              <a:t>4. Panic-Mode Synchronization</a:t>
            </a:r>
          </a:p>
        </p:txBody>
      </p:sp>
      <p:sp>
        <p:nvSpPr>
          <p:cNvPr id="17" name="TextBox 16"/>
          <p:cNvSpPr txBox="1"/>
          <p:nvPr/>
        </p:nvSpPr>
        <p:spPr>
          <a:xfrm>
            <a:off x="6400800" y="4572000"/>
            <a:ext cx="4846320" cy="1463040"/>
          </a:xfrm>
          <a:prstGeom prst="rect">
            <a:avLst/>
          </a:prstGeom>
          <a:noFill/>
        </p:spPr>
        <p:txBody>
          <a:bodyPr wrap="square">
            <a:spAutoFit/>
          </a:bodyPr>
          <a:lstStyle/>
          <a:p>
            <a:pPr>
              <a:lnSpc>
                <a:spcPct val="130000"/>
              </a:lnSpc>
              <a:defRPr sz="1050">
                <a:solidFill>
                  <a:srgbClr val="64748B"/>
                </a:solidFill>
                <a:latin typeface="Calibri"/>
              </a:defRPr>
            </a:pPr>
            <a:r>
              <a:t>Recovers from syntax errors at statement boundaries (semicolons and keywords), preventing cascading crashes and discovering multiple independent errors in one 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WORKING EVIDENCE</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Working Prototype Demonstration -- Lexical &amp; Syntax Analysis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93192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3566160" cy="365760"/>
          </a:xfrm>
          <a:prstGeom prst="rect">
            <a:avLst/>
          </a:prstGeom>
          <a:noFill/>
        </p:spPr>
        <p:txBody>
          <a:bodyPr wrap="square">
            <a:spAutoFit/>
          </a:bodyPr>
          <a:lstStyle/>
          <a:p>
            <a:pPr>
              <a:defRPr sz="1300" b="1">
                <a:solidFill>
                  <a:srgbClr val="1E3A8A"/>
                </a:solidFill>
                <a:latin typeface="Calibri"/>
              </a:defRPr>
            </a:pPr>
            <a:r>
              <a:t>Interactive Input Test Case</a:t>
            </a:r>
          </a:p>
        </p:txBody>
      </p:sp>
      <p:sp>
        <p:nvSpPr>
          <p:cNvPr id="8" name="TextBox 7"/>
          <p:cNvSpPr txBox="1"/>
          <p:nvPr/>
        </p:nvSpPr>
        <p:spPr>
          <a:xfrm>
            <a:off x="914400" y="2103120"/>
            <a:ext cx="3566160" cy="3931920"/>
          </a:xfrm>
          <a:prstGeom prst="rect">
            <a:avLst/>
          </a:prstGeom>
          <a:noFill/>
        </p:spPr>
        <p:txBody>
          <a:bodyPr wrap="square">
            <a:spAutoFit/>
          </a:bodyPr>
          <a:lstStyle/>
          <a:p>
            <a:pPr>
              <a:defRPr sz="1000">
                <a:solidFill>
                  <a:srgbClr val="1E293B"/>
                </a:solidFill>
                <a:latin typeface="Calibri"/>
              </a:defRPr>
            </a:pPr>
            <a:r>
              <a:t>- Problem Evaluated:</a:t>
            </a:r>
            <a:br/>
            <a:r>
              <a:t>  User-input circle area calculation.</a:t>
            </a:r>
            <a:br/>
            <a:br/>
            <a:r>
              <a:t>- Input Source:</a:t>
            </a:r>
            <a:br/>
            <a:r>
              <a:t>  const PI: float = 3.14159;</a:t>
            </a:r>
            <a:br/>
            <a:r>
              <a:t>  let r: float = 10.0;</a:t>
            </a:r>
            <a:br/>
            <a:r>
              <a:t>  let circle_area: float = PI * r * r;</a:t>
            </a:r>
            <a:br/>
            <a:r>
              <a:t>  print('Circle area is:', circle_area);</a:t>
            </a:r>
            <a:br/>
            <a:br/>
            <a:r>
              <a:t>- Front-End Verification:</a:t>
            </a:r>
            <a:br/>
            <a:r>
              <a:t>  • Lexer identified all 39 tokens with coordinates.</a:t>
            </a:r>
            <a:br/>
            <a:r>
              <a:t>  • Parser built hierarchical AST with correct operator precedence (* binds tighter than +).</a:t>
            </a:r>
            <a:br/>
            <a:r>
              <a:t>  • Zero syntax or lexical errors.</a:t>
            </a:r>
          </a:p>
        </p:txBody>
      </p:sp>
      <p:pic>
        <p:nvPicPr>
          <p:cNvPr id="9" name="Picture 8" descr="media_1789055534478.png"/>
          <p:cNvPicPr>
            <a:picLocks noChangeAspect="1"/>
          </p:cNvPicPr>
          <p:nvPr/>
        </p:nvPicPr>
        <p:blipFill>
          <a:blip r:embed="rId2"/>
          <a:stretch>
            <a:fillRect/>
          </a:stretch>
        </p:blipFill>
        <p:spPr>
          <a:xfrm>
            <a:off x="4846320" y="1463040"/>
            <a:ext cx="6583680" cy="4114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320040"/>
          </a:xfrm>
          <a:prstGeom prst="rect">
            <a:avLst/>
          </a:prstGeom>
          <a:noFill/>
        </p:spPr>
        <p:txBody>
          <a:bodyPr wrap="square">
            <a:spAutoFit/>
          </a:bodyPr>
          <a:lstStyle/>
          <a:p>
            <a:pPr>
              <a:defRPr sz="950" b="1">
                <a:solidFill>
                  <a:srgbClr val="2563EB"/>
                </a:solidFill>
                <a:latin typeface="Calibri"/>
              </a:defRPr>
            </a:pPr>
            <a:r>
              <a:t>EXECUTION EVIDENCE &amp; ROADMAP</a:t>
            </a:r>
          </a:p>
        </p:txBody>
      </p:sp>
      <p:sp>
        <p:nvSpPr>
          <p:cNvPr id="4" name="TextBox 3"/>
          <p:cNvSpPr txBox="1"/>
          <p:nvPr/>
        </p:nvSpPr>
        <p:spPr>
          <a:xfrm>
            <a:off x="731520" y="594360"/>
            <a:ext cx="10698480" cy="594360"/>
          </a:xfrm>
          <a:prstGeom prst="rect">
            <a:avLst/>
          </a:prstGeom>
          <a:noFill/>
        </p:spPr>
        <p:txBody>
          <a:bodyPr wrap="square">
            <a:spAutoFit/>
          </a:bodyPr>
          <a:lstStyle/>
          <a:p>
            <a:pPr>
              <a:defRPr sz="2200" b="1">
                <a:solidFill>
                  <a:srgbClr val="0F172A"/>
                </a:solidFill>
                <a:latin typeface="Calibri"/>
              </a:defRPr>
            </a:pPr>
            <a:r>
              <a:t>Scoped Symbol Table Verification &amp; Future Phases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ia_1789055554680.png"/>
          <p:cNvPicPr>
            <a:picLocks noChangeAspect="1"/>
          </p:cNvPicPr>
          <p:nvPr/>
        </p:nvPicPr>
        <p:blipFill>
          <a:blip r:embed="rId2"/>
          <a:stretch>
            <a:fillRect/>
          </a:stretch>
        </p:blipFill>
        <p:spPr>
          <a:xfrm>
            <a:off x="1645920" y="1371600"/>
            <a:ext cx="8869680" cy="2607201"/>
          </a:xfrm>
          <a:prstGeom prst="rect">
            <a:avLst/>
          </a:prstGeom>
        </p:spPr>
      </p:pic>
      <p:sp>
        <p:nvSpPr>
          <p:cNvPr id="7" name="Rounded Rectangle 6"/>
          <p:cNvSpPr/>
          <p:nvPr/>
        </p:nvSpPr>
        <p:spPr>
          <a:xfrm>
            <a:off x="731520" y="4114800"/>
            <a:ext cx="52120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51960"/>
            <a:ext cx="4846320" cy="365760"/>
          </a:xfrm>
          <a:prstGeom prst="rect">
            <a:avLst/>
          </a:prstGeom>
          <a:noFill/>
        </p:spPr>
        <p:txBody>
          <a:bodyPr wrap="square">
            <a:spAutoFit/>
          </a:bodyPr>
          <a:lstStyle/>
          <a:p>
            <a:pPr>
              <a:defRPr sz="1300" b="1">
                <a:solidFill>
                  <a:srgbClr val="1E3A8A"/>
                </a:solidFill>
                <a:latin typeface="Calibri"/>
              </a:defRPr>
            </a:pPr>
            <a:r>
              <a:t>Phase 2: Core Implementation</a:t>
            </a:r>
          </a:p>
        </p:txBody>
      </p:sp>
      <p:sp>
        <p:nvSpPr>
          <p:cNvPr id="9" name="TextBox 8"/>
          <p:cNvSpPr txBox="1"/>
          <p:nvPr/>
        </p:nvSpPr>
        <p:spPr>
          <a:xfrm>
            <a:off x="914400" y="4663440"/>
            <a:ext cx="4846320" cy="1463040"/>
          </a:xfrm>
          <a:prstGeom prst="rect">
            <a:avLst/>
          </a:prstGeom>
          <a:noFill/>
        </p:spPr>
        <p:txBody>
          <a:bodyPr wrap="square">
            <a:spAutoFit/>
          </a:bodyPr>
          <a:lstStyle/>
          <a:p>
            <a:pPr>
              <a:defRPr sz="950">
                <a:solidFill>
                  <a:srgbClr val="64748B"/>
                </a:solidFill>
                <a:latin typeface="Calibri"/>
              </a:defRPr>
            </a:pPr>
            <a:r>
              <a:t>- Static Type Checking across expressions.</a:t>
            </a:r>
            <a:br/>
            <a:r>
              <a:t>- Function signature &amp; return type verification.</a:t>
            </a:r>
            <a:br/>
            <a:r>
              <a:t>- Immutability enforcement (prevent reassigning to const).</a:t>
            </a:r>
            <a:br/>
            <a:r>
              <a:t>- Three-Address Code (TAC) quadruple generation.</a:t>
            </a:r>
          </a:p>
        </p:txBody>
      </p:sp>
      <p:sp>
        <p:nvSpPr>
          <p:cNvPr id="10" name="Rounded Rectangle 9"/>
          <p:cNvSpPr/>
          <p:nvPr/>
        </p:nvSpPr>
        <p:spPr>
          <a:xfrm>
            <a:off x="6217920" y="4114800"/>
            <a:ext cx="52120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51960"/>
            <a:ext cx="4846320" cy="365760"/>
          </a:xfrm>
          <a:prstGeom prst="rect">
            <a:avLst/>
          </a:prstGeom>
          <a:noFill/>
        </p:spPr>
        <p:txBody>
          <a:bodyPr wrap="square">
            <a:spAutoFit/>
          </a:bodyPr>
          <a:lstStyle/>
          <a:p>
            <a:pPr>
              <a:defRPr sz="1300" b="1">
                <a:solidFill>
                  <a:srgbClr val="1E3A8A"/>
                </a:solidFill>
                <a:latin typeface="Calibri"/>
              </a:defRPr>
            </a:pPr>
            <a:r>
              <a:t>Phase 3: Optimization &amp; VM</a:t>
            </a:r>
          </a:p>
        </p:txBody>
      </p:sp>
      <p:sp>
        <p:nvSpPr>
          <p:cNvPr id="12" name="TextBox 11"/>
          <p:cNvSpPr txBox="1"/>
          <p:nvPr/>
        </p:nvSpPr>
        <p:spPr>
          <a:xfrm>
            <a:off x="6400800" y="4663440"/>
            <a:ext cx="4846320" cy="1463040"/>
          </a:xfrm>
          <a:prstGeom prst="rect">
            <a:avLst/>
          </a:prstGeom>
          <a:noFill/>
        </p:spPr>
        <p:txBody>
          <a:bodyPr wrap="square">
            <a:spAutoFit/>
          </a:bodyPr>
          <a:lstStyle/>
          <a:p>
            <a:pPr>
              <a:defRPr sz="950">
                <a:solidFill>
                  <a:srgbClr val="64748B"/>
                </a:solidFill>
                <a:latin typeface="Calibri"/>
              </a:defRPr>
            </a:pPr>
            <a:r>
              <a:t>- Machine-independent TAC optimizations (Constant folding, DCE).</a:t>
            </a:r>
            <a:br/>
            <a:r>
              <a:t>- Stack-based virtual machine execution of intermediate bytecode.</a:t>
            </a:r>
            <a:br/>
            <a:r>
              <a:t>- Comprehensive boundary testing &amp; performance evaluation.</a:t>
            </a:r>
            <a:br/>
            <a:r>
              <a:t>- Final project documentation and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